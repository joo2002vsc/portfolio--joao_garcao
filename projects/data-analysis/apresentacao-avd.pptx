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Nunito"/>
      <p:regular r:id="rId38"/>
      <p:bold r:id="rId39"/>
      <p:italic r:id="rId40"/>
      <p:boldItalic r:id="rId41"/>
    </p:embeddedFont>
    <p:embeddedFont>
      <p:font typeface="Maven Pro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italic.fntdata"/><Relationship Id="rId20" Type="http://schemas.openxmlformats.org/officeDocument/2006/relationships/slide" Target="slides/slide15.xml"/><Relationship Id="rId42" Type="http://schemas.openxmlformats.org/officeDocument/2006/relationships/font" Target="fonts/MavenPro-regular.fntdata"/><Relationship Id="rId41" Type="http://schemas.openxmlformats.org/officeDocument/2006/relationships/font" Target="fonts/Nuni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avenPr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Nunito-bold.fntdata"/><Relationship Id="rId16" Type="http://schemas.openxmlformats.org/officeDocument/2006/relationships/slide" Target="slides/slide11.xml"/><Relationship Id="rId38" Type="http://schemas.openxmlformats.org/officeDocument/2006/relationships/font" Target="fonts/Nuni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Bom dia. 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 nosso trabalho foi realizado por mim, o João e a Mariana, no âmbito da unidade curricular de Análise e Visualização de Dados.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f81b3254f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f81b3254f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Cada um de nós conduziu uma entrevista com uma pessoa próxima.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As entrevistas exploraram temas como infância, família, trabalho, viagens e a procura por uma vida melhor.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partir dessas entrevistas, construímos quatro datasets: um para cada entrevista e um dataset global que reúne todas as entrevistas.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Essa estrutura permitiu uma análise individual e também transversal entre os entrevistados.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Na nossa apresentação vamos começar sempre pela análise global e depois fazermos uma pequena comparação entre as três entrevistas.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f9f032c8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f9f032c8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nossa análise centrou-se em várias variáveis linguísticas e semânticas como: lemas, entidades nomeadas, verbos, palavras-chave, colocações, noun chunks, tipos de frase, análise de sentimentos e riqueza lexical.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Estas variáveis permitiram-nos uma exploração abrangente dos discursos, desde a estrutura gramatical até ao conteúdo emocional.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125d303a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125d303a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125d303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125d303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125d303a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125d303a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f9f032c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f9f032c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Colocar gráfico de cores sobreposto sobre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f81b3254f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5f81b3254f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No corpus geral, os verbos “ter” e “haver” são os mais frequentes.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Isto mostra o foco nos tempos passados, ações vividas e contextos existenciais.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Outros verbos como “fazer”, “ficar”, “querer” e “gostar” refletem atividades do quotidiano, emoções e preferências, o que enriquece a análise dos testemunhos pessoais.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f9f032c8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5f9f032c8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entrevista do Abel tem muitos verbos ligados à ação e movimento, como “ir” e “fazer”, além de “gostar”, revelando um discurso mais emocional e dinâmico.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entrevista da Rosa usa mais o verbo “haver” e destaca-se pelo uso de verbos ligados ao trabalho e à memória coletiva, como “trabalhar” e “tínhamos”.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Já a entrevista da Laurinda apresenta uma distribuição verbal mais equilibrada, com foco em experiências rurais e familiares, num discurso mais direto e objetivo.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5f81b3254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5f81b3254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5f9f032c8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5f9f032c8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f9f032c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f9f032c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latin typeface="Nunito"/>
                <a:ea typeface="Nunito"/>
                <a:cs typeface="Nunito"/>
                <a:sym typeface="Nunito"/>
              </a:rPr>
              <a:t>Colocaç</a:t>
            </a:r>
            <a:r>
              <a:rPr lang="pt-PT" sz="1200">
                <a:latin typeface="Nunito"/>
                <a:ea typeface="Nunito"/>
                <a:cs typeface="Nunito"/>
                <a:sym typeface="Nunito"/>
              </a:rPr>
              <a:t>ões referentes a conteúdos temáticos das entrevistas, ações do quotidiano e entidades.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f9f032c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f9f032c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Abel</a:t>
            </a:r>
            <a:r>
              <a:rPr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usa linguagem simples e variada, centrando-se em experiências do dia a dia.</a:t>
            </a:r>
            <a:endParaRPr sz="1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Rosa</a:t>
            </a:r>
            <a:r>
              <a:rPr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aborda temas sociais, abstratos e tecnológicos, com elevada diversidade.</a:t>
            </a:r>
            <a:endParaRPr sz="1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Laurinda</a:t>
            </a:r>
            <a:r>
              <a:rPr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foca-se na </a:t>
            </a:r>
            <a:r>
              <a:rPr b="1"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vida rural</a:t>
            </a:r>
            <a:r>
              <a:rPr lang="pt-PT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sendo a única com colocações repetidas, reforçando esse tema.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f81b3254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f81b3254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Os noun chunks mais frequentes estão ligados à família, como “a minha mãe”, “a avó”, “o pai”, refletindo o foco temático nas relações interpessoais.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Também surgem muitos referentes geográficos e espaciais, como “o campo” ou “a cidade”, além de expressões ligadas ao cotidiano e memória como “minha vida” ou “uma série”.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f9f032c8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f9f032c8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 Abel foca-se em expressões afetivas, familiares e espaciais como “a Tunísia” ou “a minha mãe”.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Rosa usa construções mais abstratas e generalistas, como “as pessoas”, revelando um tom mais social.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Já a Laurinda destaca-se por noun chunks ligados ao meio rural e familiar, como “o milho” e “a avó”, reforçando um tom mais nostálgico e emocional.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f81b3254f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5f81b3254f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f9f032c8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f9f032c8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f81b3254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f81b3254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5f9f032c8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5f9f032c8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5f9f032c8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5f9f032c8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Observou-se uma grande predominância de frases declarativas, como esperado num contexto de entrevista.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As frases interrogativas são menos frequentes e correspondem principalmente às perguntas feitas pelos entrevistadores.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No entanto, há uso de perguntas retóricas pelos entrevistados, que reforçam um ponto de vista ou emoção.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Um exemplo ilustrativo é: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"Nós tínhamos stock de moeda, não é?"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f9f032c8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f9f032c8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minha entrevista e a do João têm mais frases declarativas, como evidenciado no gráfico.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Por outro lado, a entrevista da Mariana destaca-se com quase 40% de frases interrogativas, refletindo um estilo de constantes perguntas por parte do entrevistador, neste caso da Mariana.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Vale notar que, embora todas as entrevistas incluam perguntas, a minha e a do João também incluem algumas perguntas retóricas.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125d303a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6125d303a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0c38b24a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60c38b24a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0c38b24a4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60c38b24a4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feab2eee0_1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5feab2eee0_1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resposta é sim. Quando analisamos as palavras-chave mais frequentes nas entrevistas, observamos que termos como “pessoa”, “altura”, “vida”, “dia” e “casa” surgem nos três discursos. 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Estas palavras são transversais aos três entrevistados e remetem para experiências pessoais e memórias ligadas ao tempo e ao espaço, o que faz sentido, dado que os temas das entrevistas giram em torno da infância, da família e da vivência quotidiana.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Cada entrevistado destaca também termos únicos: a Laurinda fala muito da “avó” e de referências rurais; a Rosa menciona frequentemente “cidade” e palavras ligadas ao meio urbano; e o Abel, entrevistado por mim, usa várias expressões relacionadas com “dia”, “vida” e “pai”, mostrando um foco mais emocional e familiar.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No conjunto, percebe-se uma forte sobreposição temática. Apesar de estilos e contextos diferentes, todos evocam experiências com significado pessoal e afetivo, especialmente ligadas à família e ao lugar onde viveram.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5feab2eee0_1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5feab2eee0_1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As diferenças no sentimento entre os entrevistados são bastante claras e refletem tanto os temas abordados como a forma como cada pessoa olha para o seu passado.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381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Rosa, entrevistada pelo João, tem o discurso mais negativo. Ela fala frequentemente sobre perdas, mudanças na vida e dificuldades atuais, o que cria um contraste com um passado mais idealizado. Há uma forte carga emocional, com momentos de frustração e desilusão.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381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Já a Laurinda, entrevistada pela Mariana, é o oposto. É a que mais expressa sentimentos positivos. Ela fala com carinho da infância, da família, de tradições e do convívio. Mesmo quando relata dificuldades, mantém um tom leve e resiliente, com momentos de humor e gratidão.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381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No caso do Abel, entrevistado por mim, o sentimento também é maioritariamente negativo, mas de forma diferente. O tom dele é mais estável e contido, mas o conteúdo é marcado por referências a trabalho árduo, condições de vida difíceis e pouco espaço para momentos positivos.</a:t>
            </a:r>
            <a:endParaRPr sz="1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3810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No fundo, estas diferenças mostram que não é só o que se vive que importa, mas também como se conta: uns expressam saudade, outros amargura, e outros ainda conseguem transformar memórias difíceis em algo mais positivo.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5feab2eee0_1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5feab2eee0_1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5feab2eee0_1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5feab2eee0_1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feab2eee0_1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5feab2eee0_1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feab2eee0_1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feab2eee0_1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5f81b3254f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5f81b3254f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f81b3254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5f81b325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560625" y="1635300"/>
            <a:ext cx="52260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Análise &amp;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Visualização de Dados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560625" y="3206175"/>
            <a:ext cx="21228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latin typeface="Maven Pro"/>
                <a:ea typeface="Maven Pro"/>
                <a:cs typeface="Maven Pro"/>
                <a:sym typeface="Maven Pro"/>
              </a:rPr>
              <a:t>Autores:</a:t>
            </a:r>
            <a:endParaRPr b="1" sz="1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/>
              <a:t>Joana Azevedo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/>
              <a:t>João Garção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/>
              <a:t>Mariana Gomes</a:t>
            </a:r>
            <a:endParaRPr sz="1800"/>
          </a:p>
        </p:txBody>
      </p:sp>
      <p:pic>
        <p:nvPicPr>
          <p:cNvPr id="279" name="Google Shape;279;p13" title="ELAC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25" y="373575"/>
            <a:ext cx="1061351" cy="1061351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0" name="Google Shape;280;p13" title="U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1975" y="373575"/>
            <a:ext cx="1061351" cy="1061351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376700" y="259200"/>
            <a:ext cx="58578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/>
              <a:t>Introdução</a:t>
            </a:r>
            <a:r>
              <a:rPr lang="pt-PT" sz="2800"/>
              <a:t> e </a:t>
            </a:r>
            <a:r>
              <a:rPr lang="pt-PT" sz="2800"/>
              <a:t>Datasets</a:t>
            </a:r>
            <a:endParaRPr sz="2800"/>
          </a:p>
        </p:txBody>
      </p:sp>
      <p:sp>
        <p:nvSpPr>
          <p:cNvPr id="286" name="Google Shape;286;p14"/>
          <p:cNvSpPr txBox="1"/>
          <p:nvPr>
            <p:ph idx="4294967295" type="body"/>
          </p:nvPr>
        </p:nvSpPr>
        <p:spPr>
          <a:xfrm>
            <a:off x="1212000" y="1639158"/>
            <a:ext cx="6720000" cy="20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</a:rPr>
              <a:t>Os </a:t>
            </a:r>
            <a:r>
              <a:rPr i="1" lang="pt-PT" sz="1600">
                <a:solidFill>
                  <a:schemeClr val="lt1"/>
                </a:solidFill>
              </a:rPr>
              <a:t>datasets </a:t>
            </a:r>
            <a:r>
              <a:rPr lang="pt-PT" sz="1600">
                <a:solidFill>
                  <a:schemeClr val="lt1"/>
                </a:solidFill>
              </a:rPr>
              <a:t>são compostos pela junção dos três </a:t>
            </a:r>
            <a:r>
              <a:rPr i="1" lang="pt-PT" sz="1600">
                <a:solidFill>
                  <a:schemeClr val="lt1"/>
                </a:solidFill>
              </a:rPr>
              <a:t>c</a:t>
            </a:r>
            <a:r>
              <a:rPr i="1" lang="pt-PT" sz="1600">
                <a:solidFill>
                  <a:schemeClr val="lt1"/>
                </a:solidFill>
              </a:rPr>
              <a:t>orpus</a:t>
            </a:r>
            <a:r>
              <a:rPr i="1" lang="pt-PT" sz="1600">
                <a:solidFill>
                  <a:schemeClr val="lt1"/>
                </a:solidFill>
              </a:rPr>
              <a:t> </a:t>
            </a:r>
            <a:r>
              <a:rPr lang="pt-PT" sz="1600">
                <a:solidFill>
                  <a:schemeClr val="lt1"/>
                </a:solidFill>
              </a:rPr>
              <a:t>das três entrevistas realizadas pelos elementos constituintes deste trabalho.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600">
                <a:solidFill>
                  <a:schemeClr val="lt1"/>
                </a:solidFill>
              </a:rPr>
              <a:t>As entrevistas abordam temas como </a:t>
            </a:r>
            <a:r>
              <a:rPr b="1" lang="pt-PT" sz="1600">
                <a:solidFill>
                  <a:schemeClr val="lt1"/>
                </a:solidFill>
              </a:rPr>
              <a:t>a infância, a família, viagens, rotinas de trabalho no passado e a procura por uma vida melhor</a:t>
            </a:r>
            <a:r>
              <a:rPr lang="pt-PT" sz="1600">
                <a:solidFill>
                  <a:schemeClr val="lt1"/>
                </a:solidFill>
              </a:rPr>
              <a:t>, sendo </a:t>
            </a:r>
            <a:r>
              <a:rPr lang="pt-PT" sz="1600">
                <a:solidFill>
                  <a:schemeClr val="lt1"/>
                </a:solidFill>
              </a:rPr>
              <a:t>portanto</a:t>
            </a:r>
            <a:r>
              <a:rPr lang="pt-PT" sz="1600">
                <a:solidFill>
                  <a:schemeClr val="lt1"/>
                </a:solidFill>
              </a:rPr>
              <a:t> bastante ricas do ponto de vista lexical e semântico.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87" name="Google Shape;287;p14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/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idx="4294967295" type="title"/>
          </p:nvPr>
        </p:nvSpPr>
        <p:spPr>
          <a:xfrm>
            <a:off x="1642200" y="277500"/>
            <a:ext cx="5857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>
                <a:solidFill>
                  <a:schemeClr val="lt1"/>
                </a:solidFill>
              </a:rPr>
              <a:t>Variáveis a Analisar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93" name="Google Shape;293;p15"/>
          <p:cNvSpPr txBox="1"/>
          <p:nvPr>
            <p:ph idx="4294967295" type="body"/>
          </p:nvPr>
        </p:nvSpPr>
        <p:spPr>
          <a:xfrm>
            <a:off x="3044450" y="1417350"/>
            <a:ext cx="1394400" cy="27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Lemas;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Entidades;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Verbos;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Keywords;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Colocações;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94" name="Google Shape;294;p15"/>
          <p:cNvSpPr txBox="1"/>
          <p:nvPr>
            <p:ph idx="4294967295" type="body"/>
          </p:nvPr>
        </p:nvSpPr>
        <p:spPr>
          <a:xfrm>
            <a:off x="4705150" y="1494300"/>
            <a:ext cx="2653200" cy="25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Noun Chunks;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Análise de Sentimentos;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Riqueza Lexical;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800">
                <a:solidFill>
                  <a:schemeClr val="lt1"/>
                </a:solidFill>
              </a:rPr>
              <a:t>Tipo de Frases.</a:t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295" name="Google Shape;295;p15"/>
          <p:cNvCxnSpPr/>
          <p:nvPr/>
        </p:nvCxnSpPr>
        <p:spPr>
          <a:xfrm flipH="1">
            <a:off x="4567050" y="1494300"/>
            <a:ext cx="8100" cy="2752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15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idx="4294967295" type="title"/>
          </p:nvPr>
        </p:nvSpPr>
        <p:spPr>
          <a:xfrm>
            <a:off x="1376550" y="259475"/>
            <a:ext cx="63909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Lemas 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02" name="Google Shape;302;p16" title="WhatsApp Image 2025-06-02 at 23.19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050" y="1518425"/>
            <a:ext cx="4388150" cy="2563850"/>
          </a:xfrm>
          <a:prstGeom prst="rect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3" name="Google Shape;303;p16"/>
          <p:cNvSpPr txBox="1"/>
          <p:nvPr>
            <p:ph idx="4294967295" type="body"/>
          </p:nvPr>
        </p:nvSpPr>
        <p:spPr>
          <a:xfrm>
            <a:off x="423600" y="1206675"/>
            <a:ext cx="3580500" cy="31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O lema </a:t>
            </a:r>
            <a:r>
              <a:rPr b="1" lang="pt-PT" sz="1400">
                <a:solidFill>
                  <a:schemeClr val="lt1"/>
                </a:solidFill>
              </a:rPr>
              <a:t>“ter”</a:t>
            </a:r>
            <a:r>
              <a:rPr lang="pt-PT" sz="1400">
                <a:solidFill>
                  <a:schemeClr val="lt1"/>
                </a:solidFill>
              </a:rPr>
              <a:t> é o mais frequente em</a:t>
            </a:r>
            <a:r>
              <a:rPr lang="pt-PT" sz="1400">
                <a:solidFill>
                  <a:schemeClr val="lt1"/>
                </a:solidFill>
              </a:rPr>
              <a:t> </a:t>
            </a:r>
            <a:r>
              <a:rPr lang="pt-PT" sz="1400">
                <a:solidFill>
                  <a:schemeClr val="lt1"/>
                </a:solidFill>
              </a:rPr>
              <a:t>todos os </a:t>
            </a:r>
            <a:r>
              <a:rPr i="1" lang="pt-PT" sz="1400">
                <a:solidFill>
                  <a:schemeClr val="lt1"/>
                </a:solidFill>
              </a:rPr>
              <a:t>corpus</a:t>
            </a:r>
            <a:r>
              <a:rPr lang="pt-PT" sz="1400">
                <a:solidFill>
                  <a:schemeClr val="lt1"/>
                </a:solidFill>
              </a:rPr>
              <a:t>, refletindo o uso habitual de formas como </a:t>
            </a:r>
            <a:r>
              <a:rPr i="1" lang="pt-PT" sz="1400">
                <a:solidFill>
                  <a:schemeClr val="lt1"/>
                </a:solidFill>
              </a:rPr>
              <a:t>tenho</a:t>
            </a:r>
            <a:r>
              <a:rPr lang="pt-PT" sz="1400">
                <a:solidFill>
                  <a:schemeClr val="lt1"/>
                </a:solidFill>
              </a:rPr>
              <a:t>, </a:t>
            </a:r>
            <a:r>
              <a:rPr i="1" lang="pt-PT" sz="1400">
                <a:solidFill>
                  <a:schemeClr val="lt1"/>
                </a:solidFill>
              </a:rPr>
              <a:t>tem</a:t>
            </a:r>
            <a:r>
              <a:rPr lang="pt-PT" sz="1400">
                <a:solidFill>
                  <a:schemeClr val="lt1"/>
                </a:solidFill>
              </a:rPr>
              <a:t>, </a:t>
            </a:r>
            <a:r>
              <a:rPr i="1" lang="pt-PT" sz="1400">
                <a:solidFill>
                  <a:schemeClr val="lt1"/>
                </a:solidFill>
              </a:rPr>
              <a:t>tivemos</a:t>
            </a:r>
            <a:r>
              <a:rPr lang="pt-PT" sz="1400">
                <a:solidFill>
                  <a:schemeClr val="lt1"/>
                </a:solidFill>
              </a:rPr>
              <a:t>, entre outras.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O verbo </a:t>
            </a:r>
            <a:r>
              <a:rPr b="1" lang="pt-PT" sz="1400">
                <a:solidFill>
                  <a:schemeClr val="lt1"/>
                </a:solidFill>
              </a:rPr>
              <a:t>“</a:t>
            </a:r>
            <a:r>
              <a:rPr b="1" lang="pt-PT" sz="1400">
                <a:solidFill>
                  <a:schemeClr val="lt1"/>
                </a:solidFill>
              </a:rPr>
              <a:t>haver</a:t>
            </a:r>
            <a:r>
              <a:rPr b="1" lang="pt-PT" sz="1400">
                <a:solidFill>
                  <a:schemeClr val="lt1"/>
                </a:solidFill>
              </a:rPr>
              <a:t>”</a:t>
            </a:r>
            <a:r>
              <a:rPr lang="pt-PT" sz="1400">
                <a:solidFill>
                  <a:schemeClr val="lt1"/>
                </a:solidFill>
              </a:rPr>
              <a:t> também surge com elevada frequência, especialmente na forma </a:t>
            </a:r>
            <a:r>
              <a:rPr i="1" lang="pt-PT" sz="1400">
                <a:solidFill>
                  <a:schemeClr val="lt1"/>
                </a:solidFill>
              </a:rPr>
              <a:t>havia</a:t>
            </a:r>
            <a:r>
              <a:rPr lang="pt-PT" sz="1400">
                <a:solidFill>
                  <a:schemeClr val="lt1"/>
                </a:solidFill>
              </a:rPr>
              <a:t>, associada a discursos sobre o passado — algo destacado nas aulas.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Lemas como “mãe”, “avó” e “pai” são comuns, sobretudo em entrevistas focadas no passado e nas relações familiares.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4" name="Google Shape;304;p16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3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idx="4294967295" type="title"/>
          </p:nvPr>
        </p:nvSpPr>
        <p:spPr>
          <a:xfrm>
            <a:off x="1376550" y="257700"/>
            <a:ext cx="63909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Lemas por Entrevista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10" name="Google Shape;310;p17" title="lemas_top10_Jo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75" y="1116075"/>
            <a:ext cx="3048950" cy="1780725"/>
          </a:xfrm>
          <a:prstGeom prst="rect">
            <a:avLst/>
          </a:prstGeom>
          <a:noFill/>
          <a:ln cap="flat" cmpd="sng" w="76200">
            <a:solidFill>
              <a:srgbClr val="8100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1" name="Google Shape;311;p17" title="lemas_top10_Joã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0800" y="1116075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0000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2" name="Google Shape;312;p17" title="lemas_top10_Marian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7400" y="3145075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FFC0C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3" name="Google Shape;313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4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 txBox="1"/>
          <p:nvPr>
            <p:ph type="title"/>
          </p:nvPr>
        </p:nvSpPr>
        <p:spPr>
          <a:xfrm>
            <a:off x="1056750" y="259200"/>
            <a:ext cx="70305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Entidades 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19" name="Google Shape;319;p18" title="entidades_top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200" y="1595400"/>
            <a:ext cx="4388400" cy="2563200"/>
          </a:xfrm>
          <a:prstGeom prst="rect">
            <a:avLst/>
          </a:prstGeom>
          <a:noFill/>
          <a:ln cap="flat" cmpd="sng" w="762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0" name="Google Shape;320;p18"/>
          <p:cNvSpPr txBox="1"/>
          <p:nvPr/>
        </p:nvSpPr>
        <p:spPr>
          <a:xfrm>
            <a:off x="833925" y="1391725"/>
            <a:ext cx="3266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3 das 4 entidades mais presentes nos </a:t>
            </a:r>
            <a:r>
              <a:rPr i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corpus 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são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países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(Portugal, Angola e Tunísia, respectivamente).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Presença esporádica de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entidades pessoais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como nomes de pessoas.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Presença menos frequente de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entidades institucionais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como nomes de organizações ou empresas.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1" name="Google Shape;3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075" y="1523475"/>
            <a:ext cx="500100" cy="5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100" y="2638737"/>
            <a:ext cx="500401" cy="5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088" y="3617750"/>
            <a:ext cx="500401" cy="5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8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/>
              <a:t>5</a:t>
            </a:r>
            <a:endParaRPr b="1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"/>
          <p:cNvSpPr txBox="1"/>
          <p:nvPr>
            <p:ph idx="4294967295" type="title"/>
          </p:nvPr>
        </p:nvSpPr>
        <p:spPr>
          <a:xfrm>
            <a:off x="1375200" y="259200"/>
            <a:ext cx="70305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Entidades por Entrevista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30" name="Google Shape;330;p19" title="entidades_top10_Jo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00" y="1115550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8100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1" name="Google Shape;331;p19" title="entidades_top10_Joã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850" y="1115550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0000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2" name="Google Shape;332;p19" title="entidades_top10_Marian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7400" y="3107400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FFC0C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3" name="Google Shape;333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6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"/>
          <p:cNvSpPr txBox="1"/>
          <p:nvPr>
            <p:ph idx="4294967295" type="title"/>
          </p:nvPr>
        </p:nvSpPr>
        <p:spPr>
          <a:xfrm>
            <a:off x="1844700" y="262175"/>
            <a:ext cx="5454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Verbos 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39" name="Google Shape;339;p20" title="verbos_top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48" y="1442550"/>
            <a:ext cx="4388400" cy="2563200"/>
          </a:xfrm>
          <a:prstGeom prst="rect">
            <a:avLst/>
          </a:prstGeom>
          <a:noFill/>
          <a:ln cap="flat" cmpd="sng" w="762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20"/>
          <p:cNvSpPr txBox="1"/>
          <p:nvPr>
            <p:ph idx="4294967295" type="body"/>
          </p:nvPr>
        </p:nvSpPr>
        <p:spPr>
          <a:xfrm>
            <a:off x="5052050" y="1259675"/>
            <a:ext cx="3947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Tal como nos lemas, verifica-se um claro domínio dos verbos “ter” e “haver”, com forte presença em todas as entrevistas.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Grande variedade verbal, tanto em frequência como na diversidade de verbos usados, refletindo diferentes estilos e formas de expressão oral.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Verbos como “ficar”, “querer”, “fazer” e “gostar” são recorrentes, sugerindo que os entrevistados partilharam preferências e memórias ligadas a atividades passadas, recreativas ou laborais.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341" name="Google Shape;341;p20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7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 txBox="1"/>
          <p:nvPr>
            <p:ph idx="4294967295" type="title"/>
          </p:nvPr>
        </p:nvSpPr>
        <p:spPr>
          <a:xfrm>
            <a:off x="1388550" y="259200"/>
            <a:ext cx="63669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Verbos </a:t>
            </a:r>
            <a:r>
              <a:rPr lang="pt-PT" sz="3000">
                <a:solidFill>
                  <a:schemeClr val="lt1"/>
                </a:solidFill>
              </a:rPr>
              <a:t>por Entrevista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47" name="Google Shape;347;p21" title="top10_verbos_trip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225" y="1102438"/>
            <a:ext cx="6687549" cy="3343774"/>
          </a:xfrm>
          <a:prstGeom prst="rect">
            <a:avLst/>
          </a:prstGeom>
          <a:noFill/>
          <a:ln cap="flat" cmpd="sng" w="76200">
            <a:solidFill>
              <a:srgbClr val="8100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8" name="Google Shape;348;p21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8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"/>
          <p:cNvSpPr txBox="1"/>
          <p:nvPr>
            <p:ph idx="4294967295" type="title"/>
          </p:nvPr>
        </p:nvSpPr>
        <p:spPr>
          <a:xfrm>
            <a:off x="1444650" y="247475"/>
            <a:ext cx="6254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Keywords </a:t>
            </a:r>
            <a:r>
              <a:rPr lang="pt-PT" sz="3000">
                <a:solidFill>
                  <a:schemeClr val="lt1"/>
                </a:solidFill>
              </a:rPr>
              <a:t>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54" name="Google Shape;354;p22" title="keywords_top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400" y="1640750"/>
            <a:ext cx="4388400" cy="2563200"/>
          </a:xfrm>
          <a:prstGeom prst="rect">
            <a:avLst/>
          </a:prstGeom>
          <a:noFill/>
          <a:ln cap="flat" cmpd="sng" w="762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5" name="Google Shape;355;p22"/>
          <p:cNvSpPr txBox="1"/>
          <p:nvPr>
            <p:ph idx="4294967295" type="body"/>
          </p:nvPr>
        </p:nvSpPr>
        <p:spPr>
          <a:xfrm>
            <a:off x="525075" y="1351175"/>
            <a:ext cx="3430200" cy="29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As palavras “pessoa” e “altura” são frequentes e refletem o tom didático das entrevistas, usadas para descrever mudanças e momentos passados.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Há também muitas referências à família e grupos sociais, com termos como “avó”, “pai” e “gente”.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Além disso, são comuns palavras ligadas a localizações temporais e geográficas, como “cidade”, “dia” e “ano”.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356" name="Google Shape;356;p22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9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idx="4294967295" type="title"/>
          </p:nvPr>
        </p:nvSpPr>
        <p:spPr>
          <a:xfrm>
            <a:off x="1238550" y="259200"/>
            <a:ext cx="66669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Keywords </a:t>
            </a:r>
            <a:r>
              <a:rPr lang="pt-PT" sz="3000">
                <a:solidFill>
                  <a:schemeClr val="lt1"/>
                </a:solidFill>
              </a:rPr>
              <a:t>por Entrevista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62" name="Google Shape;362;p23" title="keywords_top10_tripl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80" y="996088"/>
            <a:ext cx="8298441" cy="3556475"/>
          </a:xfrm>
          <a:prstGeom prst="rect">
            <a:avLst/>
          </a:prstGeom>
          <a:noFill/>
          <a:ln cap="flat" cmpd="sng" w="76200">
            <a:solidFill>
              <a:srgbClr val="0000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3" name="Google Shape;363;p23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10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/>
          <p:nvPr>
            <p:ph type="title"/>
          </p:nvPr>
        </p:nvSpPr>
        <p:spPr>
          <a:xfrm>
            <a:off x="1375200" y="259200"/>
            <a:ext cx="70305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Colocações </a:t>
            </a:r>
            <a:r>
              <a:rPr lang="pt-PT" sz="3000">
                <a:solidFill>
                  <a:schemeClr val="lt1"/>
                </a:solidFill>
              </a:rPr>
              <a:t>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69" name="Google Shape;369;p24" title="colocacoes_top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00" y="1594800"/>
            <a:ext cx="4388400" cy="2563200"/>
          </a:xfrm>
          <a:prstGeom prst="rect">
            <a:avLst/>
          </a:prstGeom>
          <a:noFill/>
          <a:ln cap="flat" cmpd="sng" w="762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24"/>
          <p:cNvSpPr txBox="1"/>
          <p:nvPr/>
        </p:nvSpPr>
        <p:spPr>
          <a:xfrm>
            <a:off x="5246800" y="2106150"/>
            <a:ext cx="3285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 análise geral revelou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3.555 colocações únicas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com destaque para </a:t>
            </a:r>
            <a:r>
              <a:rPr i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“star wars”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i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“muita gente”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i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“jogar bola”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. Os temas variam entre cultura pop, quotidiano e história.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1" name="Google Shape;371;p24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11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/>
          <p:nvPr>
            <p:ph type="title"/>
          </p:nvPr>
        </p:nvSpPr>
        <p:spPr>
          <a:xfrm>
            <a:off x="1056750" y="325750"/>
            <a:ext cx="70305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Colocações </a:t>
            </a:r>
            <a:r>
              <a:rPr lang="pt-PT" sz="3000">
                <a:solidFill>
                  <a:schemeClr val="lt1"/>
                </a:solidFill>
              </a:rPr>
              <a:t>por Entrevista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77" name="Google Shape;377;p25" title="colocacoes_top10_Jo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00" y="1134300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8100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8" name="Google Shape;378;p25" title="colocacoes_top10_Joã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850" y="1134288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0000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9" name="Google Shape;379;p25" title="colocacoes_top10_Marian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7400" y="3158491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FFC0C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0" name="Google Shape;380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12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"/>
          <p:cNvSpPr txBox="1"/>
          <p:nvPr>
            <p:ph idx="4294967295" type="title"/>
          </p:nvPr>
        </p:nvSpPr>
        <p:spPr>
          <a:xfrm>
            <a:off x="1012813" y="235700"/>
            <a:ext cx="7118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Noun Chunks 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86" name="Google Shape;386;p26" title="noun_chunks_top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200" y="1594800"/>
            <a:ext cx="4388400" cy="2563200"/>
          </a:xfrm>
          <a:prstGeom prst="rect">
            <a:avLst/>
          </a:prstGeom>
          <a:noFill/>
          <a:ln cap="flat" cmpd="sng" w="762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7" name="Google Shape;387;p26"/>
          <p:cNvSpPr txBox="1"/>
          <p:nvPr/>
        </p:nvSpPr>
        <p:spPr>
          <a:xfrm>
            <a:off x="401625" y="1468050"/>
            <a:ext cx="35700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Há grande uso de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determinantes possessivos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em expressões familiares, como “a tua avó”, “a minha mãe” e “o meu pai”.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Destacam-se também noun chunks ligados 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localidades e espaços habitacionais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como “a casa”, “o campo” e “a cidade”.</a:t>
            </a:r>
            <a:endParaRPr/>
          </a:p>
        </p:txBody>
      </p:sp>
      <p:sp>
        <p:nvSpPr>
          <p:cNvPr id="388" name="Google Shape;388;p26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13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7"/>
          <p:cNvSpPr txBox="1"/>
          <p:nvPr>
            <p:ph idx="4294967295" type="title"/>
          </p:nvPr>
        </p:nvSpPr>
        <p:spPr>
          <a:xfrm>
            <a:off x="802050" y="247450"/>
            <a:ext cx="75399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Noun Chunks </a:t>
            </a:r>
            <a:r>
              <a:rPr lang="pt-PT" sz="3000">
                <a:solidFill>
                  <a:schemeClr val="lt1"/>
                </a:solidFill>
              </a:rPr>
              <a:t>por Entrevista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394" name="Google Shape;394;p27" title="noun_chunks_top10_Jo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050" y="1080900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8100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5" name="Google Shape;395;p27" title="noun_chunks_top10_Joã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850" y="1080900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0000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6" name="Google Shape;396;p27" title="noun_chunks_top10_Marian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7400" y="3119300"/>
            <a:ext cx="3049200" cy="1782000"/>
          </a:xfrm>
          <a:prstGeom prst="rect">
            <a:avLst/>
          </a:prstGeom>
          <a:noFill/>
          <a:ln cap="flat" cmpd="sng" w="76200">
            <a:solidFill>
              <a:srgbClr val="FFC0C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14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"/>
          <p:cNvSpPr txBox="1"/>
          <p:nvPr>
            <p:ph type="title"/>
          </p:nvPr>
        </p:nvSpPr>
        <p:spPr>
          <a:xfrm>
            <a:off x="1303800" y="598575"/>
            <a:ext cx="70305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de Sentimento </a:t>
            </a:r>
            <a:r>
              <a:rPr lang="pt-PT" sz="3000">
                <a:solidFill>
                  <a:schemeClr val="lt1"/>
                </a:solidFill>
              </a:rPr>
              <a:t>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403" name="Google Shape;403;p28" title="analise_de_sentimen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200" y="1594800"/>
            <a:ext cx="4388400" cy="2563200"/>
          </a:xfrm>
          <a:prstGeom prst="rect">
            <a:avLst/>
          </a:prstGeom>
          <a:noFill/>
          <a:ln cap="flat" cmpd="sng" w="762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4" name="Google Shape;404;p28"/>
          <p:cNvSpPr txBox="1"/>
          <p:nvPr/>
        </p:nvSpPr>
        <p:spPr>
          <a:xfrm>
            <a:off x="698325" y="1868250"/>
            <a:ext cx="3000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Falando da análise de sentimentos, verificou-se uma predominância das respostas negativas, face às positivas e cerca de um terço dessas mesmas respostas foram de carácter neutro.</a:t>
            </a:r>
            <a:endParaRPr/>
          </a:p>
        </p:txBody>
      </p:sp>
      <p:sp>
        <p:nvSpPr>
          <p:cNvPr id="405" name="Google Shape;405;p28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15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"/>
          <p:cNvSpPr txBox="1"/>
          <p:nvPr>
            <p:ph type="title"/>
          </p:nvPr>
        </p:nvSpPr>
        <p:spPr>
          <a:xfrm>
            <a:off x="848850" y="235700"/>
            <a:ext cx="74463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/>
              <a:t>Análise de Sentimentos </a:t>
            </a:r>
            <a:r>
              <a:rPr lang="pt-PT" sz="3000"/>
              <a:t>por Entrevista</a:t>
            </a:r>
            <a:endParaRPr sz="3000"/>
          </a:p>
        </p:txBody>
      </p:sp>
      <p:pic>
        <p:nvPicPr>
          <p:cNvPr id="411" name="Google Shape;411;p29" title="analise_de_sentimentos_triplo_agrup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490" y="1594800"/>
            <a:ext cx="4464160" cy="2790100"/>
          </a:xfrm>
          <a:prstGeom prst="rect">
            <a:avLst/>
          </a:prstGeom>
          <a:noFill/>
          <a:ln cap="flat" cmpd="sng" w="76200">
            <a:solidFill>
              <a:srgbClr val="0000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2" name="Google Shape;412;p29"/>
          <p:cNvSpPr txBox="1"/>
          <p:nvPr/>
        </p:nvSpPr>
        <p:spPr>
          <a:xfrm>
            <a:off x="645850" y="1342850"/>
            <a:ext cx="32553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 entrevista da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Mariana 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proporcionou um corpus consideravelmente mais positivo que os restantes.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 entrevista do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João 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proporcionou um corpus consideravelmente mais negativo que os restantes.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As entrevistas da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Mariana 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 do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João 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deram origem um corpus com o mesmo número de respostas neutras.</a:t>
            </a:r>
            <a:endParaRPr/>
          </a:p>
        </p:txBody>
      </p:sp>
      <p:sp>
        <p:nvSpPr>
          <p:cNvPr id="413" name="Google Shape;413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/>
              <a:t>16</a:t>
            </a:r>
            <a:endParaRPr b="1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4294967295" type="title"/>
          </p:nvPr>
        </p:nvSpPr>
        <p:spPr>
          <a:xfrm>
            <a:off x="996900" y="259200"/>
            <a:ext cx="7150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da Riqueza Lexical </a:t>
            </a:r>
            <a:r>
              <a:rPr lang="pt-PT" sz="3000">
                <a:solidFill>
                  <a:schemeClr val="lt1"/>
                </a:solidFill>
              </a:rPr>
              <a:t>do Corpus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419" name="Google Shape;419;p30" title="Figure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400" y="1190750"/>
            <a:ext cx="4197600" cy="3498000"/>
          </a:xfrm>
          <a:prstGeom prst="rect">
            <a:avLst/>
          </a:prstGeom>
          <a:noFill/>
          <a:ln cap="flat" cmpd="sng" w="76200">
            <a:solidFill>
              <a:srgbClr val="DE9C2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0" name="Google Shape;420;p30"/>
          <p:cNvSpPr txBox="1"/>
          <p:nvPr/>
        </p:nvSpPr>
        <p:spPr>
          <a:xfrm>
            <a:off x="590800" y="1687850"/>
            <a:ext cx="3308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riqueza lexical global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dos três corpus foi de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0,29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(numa escala de 0 a 1), valor considerado baixo, em parte devido à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brevidade das entrevistas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e ao seu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carácter oral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menos propício à variedade lexical do que a escrita.</a:t>
            </a:r>
            <a:endParaRPr/>
          </a:p>
        </p:txBody>
      </p:sp>
      <p:sp>
        <p:nvSpPr>
          <p:cNvPr id="421" name="Google Shape;421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17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 txBox="1"/>
          <p:nvPr>
            <p:ph idx="4294967295" type="title"/>
          </p:nvPr>
        </p:nvSpPr>
        <p:spPr>
          <a:xfrm>
            <a:off x="665700" y="247475"/>
            <a:ext cx="7812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Análise da Riqueza Lexical </a:t>
            </a:r>
            <a:r>
              <a:rPr lang="pt-PT" sz="3000">
                <a:solidFill>
                  <a:schemeClr val="lt1"/>
                </a:solidFill>
              </a:rPr>
              <a:t>por Entrevista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427" name="Google Shape;427;p31" title="Figure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134" y="1215275"/>
            <a:ext cx="4452417" cy="3208313"/>
          </a:xfrm>
          <a:prstGeom prst="rect">
            <a:avLst/>
          </a:prstGeom>
          <a:noFill/>
          <a:ln cap="flat" cmpd="sng" w="76200">
            <a:solidFill>
              <a:srgbClr val="F8C8D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8" name="Google Shape;428;p31"/>
          <p:cNvSpPr txBox="1"/>
          <p:nvPr/>
        </p:nvSpPr>
        <p:spPr>
          <a:xfrm>
            <a:off x="460375" y="1807325"/>
            <a:ext cx="32796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As variações entre os corpus foram pequenas (cerca de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0,06 pontos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), sendo o da entrevista conduzida pela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Mariana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o mais elevado, com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0,314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refletindo ligeiramente maior diversidade vocabular.</a:t>
            </a:r>
            <a:endParaRPr/>
          </a:p>
        </p:txBody>
      </p:sp>
      <p:sp>
        <p:nvSpPr>
          <p:cNvPr id="429" name="Google Shape;429;p31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18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 txBox="1"/>
          <p:nvPr>
            <p:ph idx="4294967295" type="title"/>
          </p:nvPr>
        </p:nvSpPr>
        <p:spPr>
          <a:xfrm>
            <a:off x="1056750" y="282675"/>
            <a:ext cx="70305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</a:rPr>
              <a:t>Análise de Tipo de Frase </a:t>
            </a:r>
            <a:r>
              <a:rPr lang="pt-PT" sz="3000">
                <a:solidFill>
                  <a:schemeClr val="lt1"/>
                </a:solidFill>
              </a:rPr>
              <a:t>do Corpus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35" name="Google Shape;435;p32" title="tipos_de_fr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75" y="1232875"/>
            <a:ext cx="4732376" cy="3327650"/>
          </a:xfrm>
          <a:prstGeom prst="rect">
            <a:avLst/>
          </a:prstGeom>
          <a:noFill/>
          <a:ln cap="flat" cmpd="sng" w="762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6" name="Google Shape;436;p32"/>
          <p:cNvSpPr txBox="1"/>
          <p:nvPr/>
        </p:nvSpPr>
        <p:spPr>
          <a:xfrm>
            <a:off x="5460450" y="1491625"/>
            <a:ext cx="32100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Predominam as frases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declarativas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resultado do formato das entrevistas, com respostas afirmativas e explicativas dos entrevistados. 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As frases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interrogativas 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são menos frequente, mas também existem perguntas retóricas por parte dos entrevistados.</a:t>
            </a:r>
            <a:endParaRPr sz="1500"/>
          </a:p>
        </p:txBody>
      </p:sp>
      <p:sp>
        <p:nvSpPr>
          <p:cNvPr id="437" name="Google Shape;437;p3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19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"/>
          <p:cNvSpPr txBox="1"/>
          <p:nvPr>
            <p:ph idx="4294967295" type="title"/>
          </p:nvPr>
        </p:nvSpPr>
        <p:spPr>
          <a:xfrm>
            <a:off x="1056750" y="270950"/>
            <a:ext cx="70305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</a:rPr>
              <a:t>Análise de Tipo de Frase </a:t>
            </a:r>
            <a:r>
              <a:rPr lang="pt-PT" sz="3000">
                <a:solidFill>
                  <a:schemeClr val="lt1"/>
                </a:solidFill>
              </a:rPr>
              <a:t>por Entrevista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43" name="Google Shape;443;p33" title="tipos_de_frase_trip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600" y="1087300"/>
            <a:ext cx="6082800" cy="3649675"/>
          </a:xfrm>
          <a:prstGeom prst="rect">
            <a:avLst/>
          </a:prstGeom>
          <a:noFill/>
          <a:ln cap="flat" cmpd="sng" w="76200">
            <a:solidFill>
              <a:srgbClr val="8100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4" name="Google Shape;444;p3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20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 txBox="1"/>
          <p:nvPr>
            <p:ph idx="4294967295" type="title"/>
          </p:nvPr>
        </p:nvSpPr>
        <p:spPr>
          <a:xfrm>
            <a:off x="1303200" y="292800"/>
            <a:ext cx="63669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chemeClr val="lt1"/>
                </a:solidFill>
              </a:rPr>
              <a:t>Perguntas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450" name="Google Shape;450;p34"/>
          <p:cNvSpPr txBox="1"/>
          <p:nvPr>
            <p:ph idx="4294967295" type="title"/>
          </p:nvPr>
        </p:nvSpPr>
        <p:spPr>
          <a:xfrm>
            <a:off x="533550" y="1383450"/>
            <a:ext cx="8076900" cy="2986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AutoNum type="arabicPeriod"/>
            </a:pPr>
            <a:r>
              <a:rPr b="0" lang="pt-PT" sz="1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Quais são os grupos nominais mais frequentes? Eles refletem temas como família, trabalho, emoções?</a:t>
            </a:r>
            <a:endParaRPr b="0" sz="1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AutoNum type="arabicPeriod"/>
            </a:pPr>
            <a:r>
              <a:rPr b="0" lang="pt-PT" sz="1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Qual é o interlocutor que apresenta maior variedade lexical? </a:t>
            </a:r>
            <a:endParaRPr b="0" sz="1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AutoNum type="arabicPeriod"/>
            </a:pPr>
            <a:r>
              <a:rPr b="0" lang="pt-PT" sz="1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É possível identificar temas recorrentes entre diferentes entrevistados com base nas palavras-chave?</a:t>
            </a:r>
            <a:endParaRPr b="0" sz="1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AutoNum type="arabicPeriod"/>
            </a:pPr>
            <a:r>
              <a:rPr b="0" lang="pt-PT" sz="1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Existem diferenças no sentimento expresso por diferentes interlocutores? Um interlocutor tende a ser mais positivo ou negativo que outro?</a:t>
            </a:r>
            <a:endParaRPr b="0" sz="1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AutoNum type="arabicPeriod"/>
            </a:pPr>
            <a:r>
              <a:rPr b="0" lang="pt-PT" sz="1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Como evoluíram os datasets no que diz respeito à análise de sentimentos?</a:t>
            </a:r>
            <a:endParaRPr b="0" sz="1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AutoNum type="arabicPeriod"/>
            </a:pPr>
            <a:r>
              <a:rPr b="0" lang="pt-PT" sz="1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Há uma correlação entre a estrutura frásica e o tipo de informação transmitida?</a:t>
            </a:r>
            <a:endParaRPr b="0" sz="1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1" name="Google Shape;451;p34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21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/>
          <p:cNvSpPr txBox="1"/>
          <p:nvPr>
            <p:ph type="title"/>
          </p:nvPr>
        </p:nvSpPr>
        <p:spPr>
          <a:xfrm>
            <a:off x="1292075" y="574825"/>
            <a:ext cx="7030500" cy="103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b="0" lang="pt-PT" sz="2200">
                <a:solidFill>
                  <a:schemeClr val="lt1"/>
                </a:solidFill>
              </a:rPr>
              <a:t>Quais são os grupos nominais mais frequentes? Refletem temas como família, trabalho ou emoções?</a:t>
            </a:r>
            <a:endParaRPr b="0" sz="2200">
              <a:solidFill>
                <a:schemeClr val="lt1"/>
              </a:solidFill>
            </a:endParaRPr>
          </a:p>
        </p:txBody>
      </p:sp>
      <p:sp>
        <p:nvSpPr>
          <p:cNvPr id="457" name="Google Shape;457;p35"/>
          <p:cNvSpPr txBox="1"/>
          <p:nvPr/>
        </p:nvSpPr>
        <p:spPr>
          <a:xfrm>
            <a:off x="743850" y="2051500"/>
            <a:ext cx="76563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Os grupos nominais mais frequentes revelam um forte foco na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família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e nas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relações pessoais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com termos como “a minha mãe”, “a avó” e “as pessoas”.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Nas entrevistas conduzidas pela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Joana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surgem memórias familiares e de viagens; na do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João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há equilíbrio entre temas pessoais e sociais; e na da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Mariana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destaca-se a ligação à família e às origens.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No conjunto, os corpus mostram um tom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afetivo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espontâneo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próximo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p35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22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6"/>
          <p:cNvSpPr txBox="1"/>
          <p:nvPr>
            <p:ph type="title"/>
          </p:nvPr>
        </p:nvSpPr>
        <p:spPr>
          <a:xfrm>
            <a:off x="1285350" y="674775"/>
            <a:ext cx="7030500" cy="861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PT" sz="2200">
                <a:solidFill>
                  <a:schemeClr val="lt1"/>
                </a:solidFill>
              </a:rPr>
              <a:t>Qual é o interlocutor que apresenta maior variedade lexical?</a:t>
            </a:r>
            <a:endParaRPr b="0" sz="2200">
              <a:solidFill>
                <a:schemeClr val="lt1"/>
              </a:solidFill>
            </a:endParaRPr>
          </a:p>
        </p:txBody>
      </p:sp>
      <p:sp>
        <p:nvSpPr>
          <p:cNvPr id="464" name="Google Shape;464;p36"/>
          <p:cNvSpPr txBox="1"/>
          <p:nvPr/>
        </p:nvSpPr>
        <p:spPr>
          <a:xfrm>
            <a:off x="851250" y="1866100"/>
            <a:ext cx="74415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riqueza lexical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mede a proporção de palavras únicas no total de palavras, sendo útil para avaliar 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diversidade vocabular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de cada entrevistado.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Laurinda apresenta o valor mais elevado (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0,314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), seguida de Rosa (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0,283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) e Abel (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0,260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), indicando diferentes níveis de variedade lexical.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Estes dados sugerem que Laurinda recorreu a um vocabulário mais diversificado, refletindo possivelmente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maior fluidez, variação temática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ou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estilo pessoal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5" name="Google Shape;465;p36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23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7"/>
          <p:cNvSpPr txBox="1"/>
          <p:nvPr>
            <p:ph type="title"/>
          </p:nvPr>
        </p:nvSpPr>
        <p:spPr>
          <a:xfrm>
            <a:off x="1303800" y="598575"/>
            <a:ext cx="7030500" cy="13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pt-PT" sz="2200">
                <a:solidFill>
                  <a:schemeClr val="lt1"/>
                </a:solidFill>
              </a:rPr>
              <a:t>É possível identificar temas recorrentes entre diferentes entrevistados com base nas palavras-chave?</a:t>
            </a:r>
            <a:endParaRPr b="0" sz="2200">
              <a:solidFill>
                <a:schemeClr val="lt1"/>
              </a:solidFill>
            </a:endParaRPr>
          </a:p>
        </p:txBody>
      </p:sp>
      <p:sp>
        <p:nvSpPr>
          <p:cNvPr id="471" name="Google Shape;471;p37"/>
          <p:cNvSpPr txBox="1"/>
          <p:nvPr/>
        </p:nvSpPr>
        <p:spPr>
          <a:xfrm>
            <a:off x="905850" y="2249925"/>
            <a:ext cx="73323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Palavras como “pessoa”, “altura”, “vida”, “dia” e “casa” são frequentes entre os entrevistados, indicando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temas transversais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relacionados com memórias e experiências de vida, tal como são os temas das entrevistas.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Apesar dessas variações, verifica-se uma </a:t>
            </a:r>
            <a:r>
              <a:rPr b="1"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sobreposição temática</a:t>
            </a:r>
            <a:r>
              <a:rPr lang="pt-PT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mostrando pontos comuns nas narrativas dos diferentes entrevistados, sendo comprovado pelo tema inicial das conversas.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2" name="Google Shape;472;p37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24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 txBox="1"/>
          <p:nvPr>
            <p:ph type="title"/>
          </p:nvPr>
        </p:nvSpPr>
        <p:spPr>
          <a:xfrm>
            <a:off x="1349600" y="661600"/>
            <a:ext cx="70305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pt-PT" sz="2200">
                <a:solidFill>
                  <a:schemeClr val="lt1"/>
                </a:solidFill>
              </a:rPr>
              <a:t>Existem diferenças no sentimento expresso por diferentes interlocutores?</a:t>
            </a:r>
            <a:endParaRPr b="0" sz="2200">
              <a:solidFill>
                <a:schemeClr val="lt1"/>
              </a:solidFill>
            </a:endParaRPr>
          </a:p>
        </p:txBody>
      </p:sp>
      <p:sp>
        <p:nvSpPr>
          <p:cNvPr id="478" name="Google Shape;478;p38"/>
          <p:cNvSpPr txBox="1"/>
          <p:nvPr>
            <p:ph idx="1" type="body"/>
          </p:nvPr>
        </p:nvSpPr>
        <p:spPr>
          <a:xfrm>
            <a:off x="841675" y="2002200"/>
            <a:ext cx="7479000" cy="19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A entrevista do João e da Joana apresentam um maior índice de sentimentos </a:t>
            </a:r>
            <a:r>
              <a:rPr b="1" lang="pt-PT" sz="1400">
                <a:solidFill>
                  <a:schemeClr val="lt1"/>
                </a:solidFill>
              </a:rPr>
              <a:t>negativos</a:t>
            </a:r>
            <a:r>
              <a:rPr lang="pt-PT" sz="1400">
                <a:solidFill>
                  <a:schemeClr val="lt1"/>
                </a:solidFill>
              </a:rPr>
              <a:t>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Enquanto que a entrevista da </a:t>
            </a:r>
            <a:r>
              <a:rPr lang="pt-PT" sz="1400">
                <a:solidFill>
                  <a:schemeClr val="lt1"/>
                </a:solidFill>
              </a:rPr>
              <a:t>Mariana apresenta um maior índice de sentimentos </a:t>
            </a:r>
            <a:r>
              <a:rPr b="1" lang="pt-PT" sz="1400">
                <a:solidFill>
                  <a:schemeClr val="lt1"/>
                </a:solidFill>
              </a:rPr>
              <a:t>positivos</a:t>
            </a:r>
            <a:r>
              <a:rPr lang="pt-PT" sz="1400">
                <a:solidFill>
                  <a:schemeClr val="lt1"/>
                </a:solidFill>
              </a:rPr>
              <a:t>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lt1"/>
                </a:solidFill>
              </a:rPr>
              <a:t>As diferenças de sentimento resultam do teor do conteúdo e da forma de expressão dos entrevistados, influenciadas pelo contraste entre o passado e o presente.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79" name="Google Shape;479;p38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25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9"/>
          <p:cNvSpPr txBox="1"/>
          <p:nvPr>
            <p:ph type="title"/>
          </p:nvPr>
        </p:nvSpPr>
        <p:spPr>
          <a:xfrm>
            <a:off x="1420550" y="5528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</a:rPr>
              <a:t>Como evolu</a:t>
            </a:r>
            <a:r>
              <a:rPr lang="pt-PT">
                <a:solidFill>
                  <a:schemeClr val="lt1"/>
                </a:solidFill>
              </a:rPr>
              <a:t>íram os datasets no que diz respeito à análise de sentimentos?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85" name="Google Shape;485;p39" title="Figure_sentiment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150" y="1713675"/>
            <a:ext cx="5555700" cy="3240825"/>
          </a:xfrm>
          <a:prstGeom prst="rect">
            <a:avLst/>
          </a:prstGeom>
          <a:noFill/>
          <a:ln cap="flat" cmpd="sng" w="76200">
            <a:solidFill>
              <a:srgbClr val="81007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86" name="Google Shape;486;p3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26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0"/>
          <p:cNvSpPr txBox="1"/>
          <p:nvPr>
            <p:ph type="title"/>
          </p:nvPr>
        </p:nvSpPr>
        <p:spPr>
          <a:xfrm>
            <a:off x="1138950" y="6455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PT" sz="2200">
                <a:solidFill>
                  <a:schemeClr val="lt1"/>
                </a:solidFill>
              </a:rPr>
              <a:t>Como evoluíram os datasets no que diz respeito à análise de sentimentos?</a:t>
            </a:r>
            <a:endParaRPr b="0" sz="2200">
              <a:solidFill>
                <a:schemeClr val="lt1"/>
              </a:solidFill>
            </a:endParaRPr>
          </a:p>
        </p:txBody>
      </p:sp>
      <p:sp>
        <p:nvSpPr>
          <p:cNvPr id="492" name="Google Shape;492;p40"/>
          <p:cNvSpPr txBox="1"/>
          <p:nvPr>
            <p:ph idx="1" type="body"/>
          </p:nvPr>
        </p:nvSpPr>
        <p:spPr>
          <a:xfrm>
            <a:off x="1056750" y="1715575"/>
            <a:ext cx="7030500" cy="29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Abel (Joana):</a:t>
            </a: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Sentimento predominantemente negativo, com pouca oscilação.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Discurso mais uniforme, focado em experiências difíceis.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Rosa Reis (João):</a:t>
            </a: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Maior variação emocional, com picos positivos e quedas abruptas.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Indica uma narrativa intensa e contrastante.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Reflete memórias diversas.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Laurinda (Mariana):</a:t>
            </a: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Linha emocional estável, com scores geralmente neutros.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Narrativa mais contida e descritiva.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Menor carga emocional.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93" name="Google Shape;493;p40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27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1"/>
          <p:cNvSpPr txBox="1"/>
          <p:nvPr>
            <p:ph type="title"/>
          </p:nvPr>
        </p:nvSpPr>
        <p:spPr>
          <a:xfrm>
            <a:off x="1185925" y="5398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0" lang="pt-PT" sz="2200">
                <a:solidFill>
                  <a:schemeClr val="lt1"/>
                </a:solidFill>
              </a:rPr>
              <a:t>Há uma correlação entre a estrutura frásica e o tipo de informação transmitida?</a:t>
            </a:r>
            <a:endParaRPr b="0" sz="2200">
              <a:solidFill>
                <a:schemeClr val="lt1"/>
              </a:solidFill>
            </a:endParaRPr>
          </a:p>
        </p:txBody>
      </p:sp>
      <p:pic>
        <p:nvPicPr>
          <p:cNvPr id="499" name="Google Shape;499;p41" title="Figure_tamanh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300" y="1759425"/>
            <a:ext cx="5401375" cy="3240825"/>
          </a:xfrm>
          <a:prstGeom prst="rect">
            <a:avLst/>
          </a:prstGeom>
          <a:noFill/>
          <a:ln cap="flat" cmpd="sng" w="762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0" name="Google Shape;500;p4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28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2"/>
          <p:cNvSpPr txBox="1"/>
          <p:nvPr>
            <p:ph type="title"/>
          </p:nvPr>
        </p:nvSpPr>
        <p:spPr>
          <a:xfrm>
            <a:off x="1185925" y="5985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0" lang="pt-PT" sz="2500">
                <a:solidFill>
                  <a:schemeClr val="lt1"/>
                </a:solidFill>
              </a:rPr>
              <a:t>Há uma correlação entre a estrutura frásica e o tipo de informação transmitida?</a:t>
            </a:r>
            <a:endParaRPr b="0"/>
          </a:p>
        </p:txBody>
      </p:sp>
      <p:sp>
        <p:nvSpPr>
          <p:cNvPr id="506" name="Google Shape;506;p42"/>
          <p:cNvSpPr txBox="1"/>
          <p:nvPr>
            <p:ph idx="1" type="body"/>
          </p:nvPr>
        </p:nvSpPr>
        <p:spPr>
          <a:xfrm>
            <a:off x="846075" y="1826475"/>
            <a:ext cx="75015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Perguntas:</a:t>
            </a:r>
            <a:endParaRPr b="1"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Curtas e diretas: Média de </a:t>
            </a: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12 palavras</a:t>
            </a: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Focadas na </a:t>
            </a: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solicitação eficiente de informações</a:t>
            </a: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Respostas:</a:t>
            </a:r>
            <a:endParaRPr b="1"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Mais longas e variadas: Média de </a:t>
            </a: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86 palavras</a:t>
            </a: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(mediana de 35).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Permitem </a:t>
            </a:r>
            <a:r>
              <a:rPr b="1"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elaboração, detalhes e narrativas complexas</a:t>
            </a: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 estrutura frásica adapta-se à função: perguntas procuram concisão, respostas proporcionam profundidade.</a:t>
            </a:r>
            <a:endParaRPr sz="14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07" name="Google Shape;507;p42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29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3"/>
          <p:cNvSpPr txBox="1"/>
          <p:nvPr>
            <p:ph type="title"/>
          </p:nvPr>
        </p:nvSpPr>
        <p:spPr>
          <a:xfrm>
            <a:off x="1303800" y="598575"/>
            <a:ext cx="7030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</a:rPr>
              <a:t>Conclusões Gerais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3" name="Google Shape;513;p43"/>
          <p:cNvSpPr txBox="1"/>
          <p:nvPr>
            <p:ph idx="1" type="body"/>
          </p:nvPr>
        </p:nvSpPr>
        <p:spPr>
          <a:xfrm>
            <a:off x="938550" y="1623425"/>
            <a:ext cx="74619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Conteúdo e forma de comunicação influenciam o sentimento nas respostas.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Evolução temporal (“antes” vs. “depois”) impacta positividade ou negatividade.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Tipo de frase (interrogativa/declarativa) não afeta o sentimento expressado</a:t>
            </a:r>
            <a:r>
              <a:rPr lang="pt-PT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Lemas frequentes (“ter”, “haver”, “mãe”, “pai”) refletem foco em memórias e passado.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Riqueza lexical e semântica média, com temas recorrentes e pouca diversidade.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14" name="Google Shape;514;p43"/>
          <p:cNvSpPr txBox="1"/>
          <p:nvPr>
            <p:ph idx="12" type="sldNum"/>
          </p:nvPr>
        </p:nvSpPr>
        <p:spPr>
          <a:xfrm>
            <a:off x="4297650" y="46429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chemeClr val="lt1"/>
                </a:solidFill>
              </a:rPr>
              <a:t>30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4"/>
          <p:cNvSpPr txBox="1"/>
          <p:nvPr>
            <p:ph type="title"/>
          </p:nvPr>
        </p:nvSpPr>
        <p:spPr>
          <a:xfrm>
            <a:off x="1388550" y="1863750"/>
            <a:ext cx="63669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FIM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14:flip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