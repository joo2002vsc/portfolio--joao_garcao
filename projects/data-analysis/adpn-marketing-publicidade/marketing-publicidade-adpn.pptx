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y="5143500" cx="9144000"/>
  <p:notesSz cx="6858000" cy="9144000"/>
  <p:embeddedFontLst>
    <p:embeddedFont>
      <p:font typeface="Roboto Serif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font" Target="fonts/RobotoSerif-bold.fntdata"/><Relationship Id="rId21" Type="http://schemas.openxmlformats.org/officeDocument/2006/relationships/slide" Target="slides/slide16.xml"/><Relationship Id="rId43" Type="http://schemas.openxmlformats.org/officeDocument/2006/relationships/font" Target="fonts/RobotoSerif-regular.fntdata"/><Relationship Id="rId24" Type="http://schemas.openxmlformats.org/officeDocument/2006/relationships/slide" Target="slides/slide19.xml"/><Relationship Id="rId46" Type="http://schemas.openxmlformats.org/officeDocument/2006/relationships/font" Target="fonts/RobotoSerif-boldItalic.fntdata"/><Relationship Id="rId23" Type="http://schemas.openxmlformats.org/officeDocument/2006/relationships/slide" Target="slides/slide18.xml"/><Relationship Id="rId45" Type="http://schemas.openxmlformats.org/officeDocument/2006/relationships/font" Target="fonts/RobotoSerif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565be340be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565be340be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58952f3185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58952f3185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565be340be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565be340b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c6aca7425a8641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c6aca7425a8641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58c5a2b659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58c5a2b659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c6aca7425a8641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c6aca7425a8641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58c5a2b659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58c5a2b659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58952f3185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58952f3185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58c5a2b659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58c5a2b659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65be340b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65be340b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58952f3185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58952f3185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58c5a2b659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58c5a2b659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58c5a2b659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58c5a2b659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c6aca7425a8641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c6aca7425a8641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c6aca7425a8641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c6aca7425a8641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58c5a2b659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58c5a2b659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58952f3185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58952f3185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58c5a2b659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58c5a2b659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58c5a2b659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58c5a2b659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58c5a2b659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58c5a2b659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58952f3185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58952f3185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58c5a2b659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58c5a2b659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58c5a2b659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58c5a2b659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58c5a2b659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58c5a2b659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58c5a2b659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58c5a2b659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58c5a2b659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58c5a2b659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58c5a2b65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58c5a2b65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58c5a2b659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58c5a2b659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58c5a2b659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58c5a2b659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58c5a2b659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58c5a2b659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58c5a2b659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58c5a2b659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565be340b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565be340b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c6aca7425a8641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c6aca7425a8641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58c5a2b659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58c5a2b659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58c5a2b659_0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58c5a2b659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565be340b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565be340b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gradFill>
          <a:gsLst>
            <a:gs pos="0">
              <a:srgbClr val="DB0000"/>
            </a:gs>
            <a:gs pos="100000">
              <a:srgbClr val="540303"/>
            </a:gs>
          </a:gsLst>
          <a:lin ang="5400012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spd="slow" p14:dur="1500">
        <p:fade/>
      </p:transition>
    </mc:Choice>
    <mc:Fallback>
      <p:transition spd="slow">
        <p:fade/>
      </p:transition>
    </mc:Fallback>
  </mc:AlternateConten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101912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2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O Papel do Marketing e da Publicidade no</a:t>
            </a:r>
            <a:endParaRPr b="1" sz="24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ctr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2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Processo de Tomada de Decisão do Consumidor </a:t>
            </a:r>
            <a:endParaRPr sz="24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416675" y="3387575"/>
            <a:ext cx="8333100" cy="15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6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Realizado por: </a:t>
            </a:r>
            <a:endParaRPr sz="16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6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Jo</a:t>
            </a:r>
            <a:r>
              <a:rPr lang="pt-PT" sz="16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ão Garção</a:t>
            </a:r>
            <a:endParaRPr sz="16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16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Joana Azevedo</a:t>
            </a:r>
            <a:endParaRPr sz="16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6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Michel Gonçalves</a:t>
            </a:r>
            <a:endParaRPr sz="16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pic>
        <p:nvPicPr>
          <p:cNvPr id="56" name="Google Shape;56;p13" title="EEG-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4475" y="175000"/>
            <a:ext cx="1614051" cy="138167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>
            <p:ph idx="12" type="sldNum"/>
          </p:nvPr>
        </p:nvSpPr>
        <p:spPr>
          <a:xfrm>
            <a:off x="8472458" y="4663217"/>
            <a:ext cx="548700" cy="38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2345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t-PT" sz="242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ESTRUTURA DO PROJETO 1/2</a:t>
            </a:r>
            <a:endParaRPr b="1" sz="242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540300" y="1017725"/>
            <a:ext cx="3999900" cy="378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3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Introdução e Objetivos</a:t>
            </a:r>
            <a:endParaRPr b="1" sz="30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2737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Roboto Serif"/>
              <a:buChar char="➔"/>
            </a:pPr>
            <a:r>
              <a:rPr lang="pt-PT" sz="2789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Contextualização do Tema</a:t>
            </a:r>
            <a:br>
              <a:rPr lang="pt-PT" sz="2789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</a:br>
            <a:endParaRPr sz="2789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2737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Roboto Serif"/>
              <a:buChar char="➔"/>
            </a:pPr>
            <a:r>
              <a:rPr lang="pt-PT" sz="2789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Resultados Esperados</a:t>
            </a:r>
            <a:br>
              <a:rPr lang="pt-PT" sz="2789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</a:br>
            <a:endParaRPr sz="2789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2737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Roboto Serif"/>
              <a:buChar char="➔"/>
            </a:pPr>
            <a:r>
              <a:rPr lang="pt-PT" sz="2789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Metodologia</a:t>
            </a:r>
            <a:endParaRPr sz="2789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PT" sz="3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Fundamentos Teóricos</a:t>
            </a:r>
            <a:endParaRPr b="1" sz="30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2737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Roboto Serif"/>
              <a:buChar char="➔"/>
            </a:pPr>
            <a:r>
              <a:rPr lang="pt-PT" sz="2789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Conceitos de Marketing e Publicidade</a:t>
            </a:r>
            <a:br>
              <a:rPr lang="pt-PT" sz="2789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</a:br>
            <a:endParaRPr sz="2789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2737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Roboto Serif"/>
              <a:buChar char="➔"/>
            </a:pPr>
            <a:r>
              <a:rPr lang="pt-PT" sz="2789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Processamento de Linguagem Natural (PLN)</a:t>
            </a:r>
            <a:br>
              <a:rPr lang="pt-PT" sz="2789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</a:br>
            <a:endParaRPr sz="2789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2737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Roboto Serif"/>
              <a:buChar char="➔"/>
            </a:pPr>
            <a:r>
              <a:rPr lang="pt-PT" sz="2789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Modelos de Linguagem (LLM)</a:t>
            </a:r>
            <a:endParaRPr sz="1189"/>
          </a:p>
        </p:txBody>
      </p:sp>
      <p:sp>
        <p:nvSpPr>
          <p:cNvPr id="64" name="Google Shape;64;p14"/>
          <p:cNvSpPr txBox="1"/>
          <p:nvPr>
            <p:ph idx="2" type="body"/>
          </p:nvPr>
        </p:nvSpPr>
        <p:spPr>
          <a:xfrm>
            <a:off x="4832400" y="1017725"/>
            <a:ext cx="3999900" cy="378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Tomada de Decisão do Consumidor</a:t>
            </a:r>
            <a:endParaRPr b="1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 Serif"/>
              <a:buChar char="➔"/>
            </a:pPr>
            <a:r>
              <a:rPr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Processo e Etapas</a:t>
            </a:r>
            <a:br>
              <a:rPr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</a:br>
            <a:endParaRPr sz="13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 Serif"/>
              <a:buChar char="➔"/>
            </a:pPr>
            <a:r>
              <a:rPr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Influência do Marketing e da Publicidade</a:t>
            </a:r>
            <a:endParaRPr sz="13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Questões Éticas</a:t>
            </a:r>
            <a:endParaRPr b="1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 Serif"/>
              <a:buChar char="➔"/>
            </a:pPr>
            <a:r>
              <a:rPr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Publicidade Enganosa</a:t>
            </a:r>
            <a:br>
              <a:rPr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</a:br>
            <a:endParaRPr sz="13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 Serif"/>
              <a:buChar char="➔"/>
            </a:pPr>
            <a:r>
              <a:rPr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Manipulação e Privacidade</a:t>
            </a:r>
            <a:br>
              <a:rPr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</a:br>
            <a:endParaRPr sz="13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 Serif"/>
              <a:buChar char="➔"/>
            </a:pPr>
            <a:r>
              <a:rPr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Estereótipos e Consumo Infantil</a:t>
            </a:r>
            <a:endParaRPr sz="1500"/>
          </a:p>
        </p:txBody>
      </p:sp>
      <p:cxnSp>
        <p:nvCxnSpPr>
          <p:cNvPr id="65" name="Google Shape;65;p14"/>
          <p:cNvCxnSpPr/>
          <p:nvPr/>
        </p:nvCxnSpPr>
        <p:spPr>
          <a:xfrm>
            <a:off x="4560750" y="1028700"/>
            <a:ext cx="22500" cy="36957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" name="Google Shape;66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" name="Google Shape;71;p15"/>
          <p:cNvCxnSpPr/>
          <p:nvPr/>
        </p:nvCxnSpPr>
        <p:spPr>
          <a:xfrm>
            <a:off x="4560750" y="1028700"/>
            <a:ext cx="22500" cy="36957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" name="Google Shape;72;p15"/>
          <p:cNvSpPr txBox="1"/>
          <p:nvPr/>
        </p:nvSpPr>
        <p:spPr>
          <a:xfrm>
            <a:off x="527175" y="959625"/>
            <a:ext cx="3953700" cy="38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Big Data e Business Analytics</a:t>
            </a:r>
            <a:endParaRPr b="1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 Serif"/>
              <a:buChar char="➔"/>
            </a:pPr>
            <a:r>
              <a:rPr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Tipologia de Dados (5 V’s)</a:t>
            </a:r>
            <a:br>
              <a:rPr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</a:br>
            <a:endParaRPr sz="13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 Serif"/>
              <a:buChar char="➔"/>
            </a:pPr>
            <a:r>
              <a:rPr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Tipos de Business Analytics: Descriptive, Predictive, Prescritiva e Wysdom</a:t>
            </a:r>
            <a:endParaRPr sz="13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Estudos de Caso</a:t>
            </a:r>
            <a:endParaRPr b="1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Char char="➔"/>
            </a:pPr>
            <a:r>
              <a:rPr b="1"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Automaise</a:t>
            </a:r>
            <a:br>
              <a:rPr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</a:br>
            <a:endParaRPr sz="13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➔"/>
            </a:pPr>
            <a:r>
              <a:rPr b="1"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Netflix</a:t>
            </a:r>
            <a:r>
              <a:rPr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 </a:t>
            </a:r>
            <a:br>
              <a:rPr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</a:br>
            <a:endParaRPr sz="13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➔"/>
            </a:pPr>
            <a:r>
              <a:rPr b="1"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Spotify</a:t>
            </a:r>
            <a:r>
              <a:rPr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 </a:t>
            </a:r>
            <a:br>
              <a:rPr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</a:br>
            <a:endParaRPr sz="13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➔"/>
            </a:pPr>
            <a:r>
              <a:rPr b="1"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Instagram/YouTube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5082050" y="1035825"/>
            <a:ext cx="3000000" cy="33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Tendências e Futuro</a:t>
            </a:r>
            <a:endParaRPr b="1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 Serif"/>
              <a:buChar char="➔"/>
            </a:pPr>
            <a:r>
              <a:rPr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Big Data, IA e Marketing Digital</a:t>
            </a:r>
            <a:br>
              <a:rPr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</a:br>
            <a:endParaRPr sz="13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 Serif"/>
              <a:buChar char="➔"/>
            </a:pPr>
            <a:r>
              <a:rPr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Integração com LLM e PLN</a:t>
            </a:r>
            <a:endParaRPr sz="13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Conclusões Finais</a:t>
            </a:r>
            <a:endParaRPr b="1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 Serif"/>
              <a:buChar char="➔"/>
            </a:pPr>
            <a:r>
              <a:rPr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Síntese das Análises</a:t>
            </a:r>
            <a:br>
              <a:rPr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</a:br>
            <a:endParaRPr sz="13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 Serif"/>
              <a:buChar char="➔"/>
            </a:pPr>
            <a:r>
              <a:rPr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Riscos, Vantagens e Perspectivas</a:t>
            </a:r>
            <a:endParaRPr sz="13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</p:txBody>
      </p:sp>
      <p:sp>
        <p:nvSpPr>
          <p:cNvPr id="74" name="Google Shape;74;p15"/>
          <p:cNvSpPr txBox="1"/>
          <p:nvPr>
            <p:ph type="title"/>
          </p:nvPr>
        </p:nvSpPr>
        <p:spPr>
          <a:xfrm>
            <a:off x="311700" y="2345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t-PT" sz="242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ESTRUTURA DO PROJETO 2/2</a:t>
            </a:r>
            <a:endParaRPr b="1" sz="242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75" name="Google Shape;75;p15"/>
          <p:cNvSpPr txBox="1"/>
          <p:nvPr>
            <p:ph idx="12" type="sldNum"/>
          </p:nvPr>
        </p:nvSpPr>
        <p:spPr>
          <a:xfrm>
            <a:off x="8519133" y="47243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INTRODUÇ</a:t>
            </a:r>
            <a:r>
              <a:rPr b="1"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ÃO</a:t>
            </a:r>
            <a:endParaRPr b="1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81" name="Google Shape;8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ctrTitle"/>
          </p:nvPr>
        </p:nvSpPr>
        <p:spPr>
          <a:xfrm>
            <a:off x="311708" y="1506575"/>
            <a:ext cx="85206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CONCEITOS FUNDAMENTAIS</a:t>
            </a:r>
            <a:endParaRPr b="1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87" name="Google Shape;8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2619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2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O QUE É O MARKETING?</a:t>
            </a:r>
            <a:endParaRPr b="1" sz="24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527175" y="987750"/>
            <a:ext cx="7919400" cy="398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O Marketing</a:t>
            </a:r>
            <a:r>
              <a:rPr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 “[...] é a atividade, o conjunto de instituições e os processos de criação, comunicação, entrega e troca de ofertas que têm valor para os clientes, consumidores, parceiros e sociedade em geral”</a:t>
            </a:r>
            <a:endParaRPr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6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Objetivos Principais:</a:t>
            </a:r>
            <a:endParaRPr b="1" sz="16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➔"/>
            </a:pPr>
            <a:r>
              <a:rPr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Compreender os desejos e necessidades dos consumidores</a:t>
            </a:r>
            <a:br>
              <a:rPr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</a:br>
            <a:endParaRPr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➔"/>
            </a:pPr>
            <a:r>
              <a:rPr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Desenvolver produtos ou serviços que atendam a essas necessidades</a:t>
            </a:r>
            <a:br>
              <a:rPr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</a:br>
            <a:endParaRPr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➔"/>
            </a:pPr>
            <a:r>
              <a:rPr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Comunicar eficazmente o valor oferecido</a:t>
            </a:r>
            <a:br>
              <a:rPr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</a:br>
            <a:endParaRPr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➔"/>
            </a:pPr>
            <a:r>
              <a:rPr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Entregar esse valor de maneira eficiente e satisfatória</a:t>
            </a:r>
            <a:endParaRPr sz="17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94" name="Google Shape;94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11700" y="2619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2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COMPONENTES D</a:t>
            </a:r>
            <a:r>
              <a:rPr b="1" lang="pt-PT" sz="2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O MARKETING</a:t>
            </a:r>
            <a:endParaRPr b="1" sz="24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00" name="Google Shape;100;p19"/>
          <p:cNvSpPr txBox="1"/>
          <p:nvPr>
            <p:ph idx="2" type="body"/>
          </p:nvPr>
        </p:nvSpPr>
        <p:spPr>
          <a:xfrm>
            <a:off x="538850" y="1152475"/>
            <a:ext cx="7931100" cy="318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6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Os 4 P’s:</a:t>
            </a:r>
            <a:endParaRPr b="1" sz="16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❏"/>
            </a:pPr>
            <a:r>
              <a:rPr b="1"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Produto</a:t>
            </a:r>
            <a:r>
              <a:rPr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: O que é oferecido ao mercado para satisfazer uma necessidade</a:t>
            </a:r>
            <a:br>
              <a:rPr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</a:br>
            <a:endParaRPr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❏"/>
            </a:pPr>
            <a:r>
              <a:rPr b="1"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Preço</a:t>
            </a:r>
            <a:r>
              <a:rPr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: O valor monetário cobrado pelo produto ou serviço</a:t>
            </a:r>
            <a:br>
              <a:rPr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</a:br>
            <a:endParaRPr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❏"/>
            </a:pPr>
            <a:r>
              <a:rPr b="1"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Praça (Distribuição)</a:t>
            </a:r>
            <a:r>
              <a:rPr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: Como e onde o produto é disponibilizado ao consumidor</a:t>
            </a:r>
            <a:br>
              <a:rPr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</a:br>
            <a:endParaRPr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❏"/>
            </a:pPr>
            <a:r>
              <a:rPr b="1"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Promoção</a:t>
            </a:r>
            <a:r>
              <a:rPr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: As atividades que comunicam os benefícios do produto e persuadem os clientes a comprá-lo</a:t>
            </a:r>
            <a:endParaRPr sz="17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01" name="Google Shape;10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311700" y="179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t-PT" sz="262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OS PRINCIPAIS TIPOS DE MARKETING</a:t>
            </a:r>
            <a:endParaRPr b="1" sz="262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07" name="Google Shape;107;p20"/>
          <p:cNvSpPr txBox="1"/>
          <p:nvPr>
            <p:ph idx="1" type="body"/>
          </p:nvPr>
        </p:nvSpPr>
        <p:spPr>
          <a:xfrm>
            <a:off x="533300" y="996050"/>
            <a:ext cx="7936500" cy="32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Marketing Digital</a:t>
            </a:r>
            <a:endParaRPr b="1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 Serif"/>
              <a:buChar char="➔"/>
            </a:pPr>
            <a:r>
              <a:rPr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Abrange todas as ações de marketing realizadas através de dispositivos eletrónicos e da internet. Entre os seus principais formatos, destacam-se: SEO, PPC e Marketing de Influenciadores.</a:t>
            </a:r>
            <a:endParaRPr sz="13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Marketing Tradicional</a:t>
            </a:r>
            <a:endParaRPr sz="13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 Serif"/>
              <a:buChar char="➔"/>
            </a:pPr>
            <a:r>
              <a:rPr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Refere-se a estratégias offline, ainda muito utilizadas: Publicidade em Televisão e Rádio e Anúncios Impressos.</a:t>
            </a:r>
            <a:endParaRPr sz="13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Marketing de Conteúdo</a:t>
            </a:r>
            <a:endParaRPr sz="13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 Serif"/>
              <a:buChar char="➔"/>
            </a:pPr>
            <a:r>
              <a:rPr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Foca-se na criação de conteúdo relevante e valioso, como blogues, vídeos ou webinars, com o objetivo de atrair e fidelizar o público ao longo do tempo. </a:t>
            </a:r>
            <a:endParaRPr sz="12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08" name="Google Shape;10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2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O QUE É A PUBLICIDADE?</a:t>
            </a:r>
            <a:endParaRPr b="1" sz="24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14" name="Google Shape;114;p21"/>
          <p:cNvSpPr txBox="1"/>
          <p:nvPr>
            <p:ph idx="1" type="body"/>
          </p:nvPr>
        </p:nvSpPr>
        <p:spPr>
          <a:xfrm>
            <a:off x="311700" y="1152475"/>
            <a:ext cx="8520600" cy="369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A publicidade</a:t>
            </a:r>
            <a:r>
              <a:rPr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 é um meio de comunicação em massa, geralmente com objetivos comerciais. A sua principal função é chamar a atenção do público-alvo, seja para fins lucrativos ou informativos.</a:t>
            </a:r>
            <a:endParaRPr b="1" sz="12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PT" sz="16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Características principais da Publicidade:</a:t>
            </a:r>
            <a:endParaRPr b="1" sz="16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7500" lvl="0" marL="457200" rtl="0" algn="just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➔"/>
            </a:pPr>
            <a:r>
              <a:rPr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É uma forma de comunicação </a:t>
            </a:r>
            <a:r>
              <a:rPr b="1"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paga </a:t>
            </a:r>
            <a:r>
              <a:rPr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ou </a:t>
            </a:r>
            <a:r>
              <a:rPr b="1"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espontânea</a:t>
            </a:r>
            <a:r>
              <a:rPr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.</a:t>
            </a:r>
            <a:br>
              <a:rPr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</a:br>
            <a:endParaRPr sz="14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➔"/>
            </a:pPr>
            <a:r>
              <a:rPr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Utiliza canais </a:t>
            </a:r>
            <a:r>
              <a:rPr b="1"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não pessoais</a:t>
            </a:r>
            <a:r>
              <a:rPr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 (sem interação direta).</a:t>
            </a:r>
            <a:br>
              <a:rPr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</a:br>
            <a:endParaRPr sz="14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➔"/>
            </a:pPr>
            <a:r>
              <a:rPr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Tem um </a:t>
            </a:r>
            <a:r>
              <a:rPr b="1"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patrocinador identificado</a:t>
            </a:r>
            <a:r>
              <a:rPr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.</a:t>
            </a:r>
            <a:br>
              <a:rPr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</a:br>
            <a:endParaRPr sz="14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➔"/>
            </a:pPr>
            <a:r>
              <a:rPr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Visa </a:t>
            </a:r>
            <a:r>
              <a:rPr b="1"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informar e/ou persuadir</a:t>
            </a:r>
            <a:r>
              <a:rPr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 o público-alvo.</a:t>
            </a:r>
            <a:endParaRPr sz="2000"/>
          </a:p>
        </p:txBody>
      </p:sp>
      <p:sp>
        <p:nvSpPr>
          <p:cNvPr id="115" name="Google Shape;11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type="title"/>
          </p:nvPr>
        </p:nvSpPr>
        <p:spPr>
          <a:xfrm>
            <a:off x="311700" y="2436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t-PT" sz="242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OS PRINCIPAIS TIPOS DE PUBLICIDADE</a:t>
            </a:r>
            <a:endParaRPr b="1" sz="242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562175" y="1200000"/>
            <a:ext cx="3592200" cy="304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Publicidade Comercial</a:t>
            </a:r>
            <a:endParaRPr b="1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 Serif"/>
              <a:buChar char="➔"/>
            </a:pPr>
            <a:r>
              <a:rPr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Promove produtos ou serviços com objetivo de gerar lucro.</a:t>
            </a:r>
            <a:endParaRPr sz="13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Publicidade Institucional</a:t>
            </a:r>
            <a:endParaRPr b="1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 Serif"/>
              <a:buChar char="➔"/>
            </a:pPr>
            <a:r>
              <a:rPr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Reforça a imagem e os valores da marca, sem fins comerciais diretos.</a:t>
            </a:r>
            <a:endParaRPr sz="13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Publicidade Governamental</a:t>
            </a:r>
            <a:endParaRPr b="1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 Serif"/>
              <a:buChar char="➔"/>
            </a:pPr>
            <a:r>
              <a:rPr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Informa e educa a população sobre temas de interesse público.</a:t>
            </a:r>
            <a:endParaRPr sz="13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22" name="Google Shape;122;p22"/>
          <p:cNvSpPr txBox="1"/>
          <p:nvPr/>
        </p:nvSpPr>
        <p:spPr>
          <a:xfrm>
            <a:off x="4854275" y="1175900"/>
            <a:ext cx="3592200" cy="32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Publicidade Social</a:t>
            </a:r>
            <a:endParaRPr b="1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 Serif"/>
              <a:buChar char="➔"/>
            </a:pPr>
            <a:r>
              <a:rPr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Promove causas sociais e incentiva mudanças de comportamento.</a:t>
            </a:r>
            <a:endParaRPr sz="13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Publicidade Digital</a:t>
            </a:r>
            <a:endParaRPr b="1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 Serif"/>
              <a:buChar char="➔"/>
            </a:pPr>
            <a:r>
              <a:rPr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Utiliza meios online para divulgar marcas com segmentação precisa.</a:t>
            </a:r>
            <a:endParaRPr sz="13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Publicidade de Guerrilha</a:t>
            </a:r>
            <a:endParaRPr b="1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 Serif"/>
              <a:buChar char="➔"/>
            </a:pPr>
            <a:r>
              <a:rPr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Cria impacto com criatividade, usando meios inesperados e de baixo custo.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3" name="Google Shape;123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/>
          <p:nvPr>
            <p:ph type="ctrTitle"/>
          </p:nvPr>
        </p:nvSpPr>
        <p:spPr>
          <a:xfrm>
            <a:off x="311708" y="1430375"/>
            <a:ext cx="85206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CASOS DE ESTUDO</a:t>
            </a:r>
            <a:endParaRPr b="1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29" name="Google Shape;129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4"/>
          <p:cNvSpPr txBox="1"/>
          <p:nvPr>
            <p:ph type="ctrTitle"/>
          </p:nvPr>
        </p:nvSpPr>
        <p:spPr>
          <a:xfrm>
            <a:off x="311700" y="201350"/>
            <a:ext cx="8520600" cy="95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CASO Nº1 : AUTOMAISE</a:t>
            </a:r>
            <a:endParaRPr b="1" sz="48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pic>
        <p:nvPicPr>
          <p:cNvPr id="135" name="Google Shape;13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2650" y="1360300"/>
            <a:ext cx="4813454" cy="3377724"/>
          </a:xfrm>
          <a:prstGeom prst="rect">
            <a:avLst/>
          </a:prstGeom>
          <a:noFill/>
          <a:ln cap="flat" cmpd="sng" w="76200">
            <a:solidFill>
              <a:srgbClr val="CB561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6" name="Google Shape;136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26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Quem é a </a:t>
            </a:r>
            <a:r>
              <a:rPr b="1" i="1" lang="pt-PT" sz="26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Automaise</a:t>
            </a:r>
            <a:r>
              <a:rPr b="1" lang="pt-PT" sz="26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 e o que faz?</a:t>
            </a:r>
            <a:endParaRPr b="1" sz="26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42" name="Google Shape;142;p25"/>
          <p:cNvSpPr txBox="1"/>
          <p:nvPr>
            <p:ph idx="1" type="body"/>
          </p:nvPr>
        </p:nvSpPr>
        <p:spPr>
          <a:xfrm>
            <a:off x="311700" y="13048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6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Fundação:</a:t>
            </a:r>
            <a:r>
              <a:rPr lang="pt-PT" sz="16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 </a:t>
            </a:r>
            <a:r>
              <a:rPr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2017, Braga, Portugal</a:t>
            </a:r>
            <a:br>
              <a:rPr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</a:br>
            <a:r>
              <a:rPr b="1"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Área:</a:t>
            </a:r>
            <a:r>
              <a:rPr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 Inteligência Artificial (IA) aplicada a negócios</a:t>
            </a:r>
            <a:endParaRPr sz="14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6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O que oferece?</a:t>
            </a:r>
            <a:endParaRPr b="1" sz="16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➔"/>
            </a:pPr>
            <a:r>
              <a:rPr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Soluções de IA para empresas (no-code/low-code)</a:t>
            </a:r>
            <a:br>
              <a:rPr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</a:br>
            <a:endParaRPr sz="14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➔"/>
            </a:pPr>
            <a:r>
              <a:rPr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Foco em </a:t>
            </a:r>
            <a:r>
              <a:rPr b="1"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atendimento ao cliente, marketing, publicidade e eficiência operacional</a:t>
            </a:r>
            <a:br>
              <a:rPr b="1"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</a:br>
            <a:endParaRPr b="1" sz="14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➔"/>
            </a:pPr>
            <a:r>
              <a:rPr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Utilização de </a:t>
            </a:r>
            <a:r>
              <a:rPr b="1"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PLN (Processamento de Linguagem Natural)</a:t>
            </a:r>
            <a:r>
              <a:rPr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 e </a:t>
            </a:r>
            <a:r>
              <a:rPr b="1"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Machine-Learning</a:t>
            </a:r>
            <a:endParaRPr b="1" sz="14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6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Objetivo:</a:t>
            </a:r>
            <a:endParaRPr b="1" sz="16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➔"/>
            </a:pPr>
            <a:r>
              <a:rPr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Tornar a IA acessível, útil e integrada nos processos empresariais</a:t>
            </a:r>
            <a:endParaRPr sz="2000"/>
          </a:p>
        </p:txBody>
      </p:sp>
      <p:pic>
        <p:nvPicPr>
          <p:cNvPr id="143" name="Google Shape;14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87874" y="673625"/>
            <a:ext cx="1196523" cy="1197102"/>
          </a:xfrm>
          <a:prstGeom prst="rect">
            <a:avLst/>
          </a:prstGeom>
          <a:noFill/>
          <a:ln cap="flat" cmpd="sng" w="76200">
            <a:solidFill>
              <a:srgbClr val="CB561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4" name="Google Shape;144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6"/>
          <p:cNvSpPr txBox="1"/>
          <p:nvPr>
            <p:ph type="title"/>
          </p:nvPr>
        </p:nvSpPr>
        <p:spPr>
          <a:xfrm>
            <a:off x="311700" y="225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t-PT" sz="262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AUTOMAISE - Tecnologias, Analytics e Value</a:t>
            </a:r>
            <a:endParaRPr b="1" sz="262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50" name="Google Shape;150;p26"/>
          <p:cNvSpPr txBox="1"/>
          <p:nvPr>
            <p:ph idx="1" type="body"/>
          </p:nvPr>
        </p:nvSpPr>
        <p:spPr>
          <a:xfrm>
            <a:off x="311700" y="1206150"/>
            <a:ext cx="8520600" cy="308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b="1" lang="pt-PT" sz="16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Tecnologias-chave:</a:t>
            </a:r>
            <a:endParaRPr b="1" sz="16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just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Fidelizam o cliente e aumentam o engajamento</a:t>
            </a:r>
            <a:endParaRPr sz="14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7500" lvl="0" marL="457200" rtl="0" algn="just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➔"/>
            </a:pPr>
            <a:r>
              <a:rPr b="1"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Quokka</a:t>
            </a:r>
            <a:r>
              <a:rPr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: modelo de linguagem para atendimento personalizado</a:t>
            </a:r>
            <a:br>
              <a:rPr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</a:br>
            <a:endParaRPr sz="14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1150" lvl="0" marL="457200" rtl="0"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➔"/>
            </a:pPr>
            <a:r>
              <a:rPr b="1"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PLN</a:t>
            </a:r>
            <a:r>
              <a:rPr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: análise de sentimentos, intenções e contexto</a:t>
            </a:r>
            <a:br>
              <a:rPr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</a:br>
            <a:endParaRPr sz="13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just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just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PT" sz="16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Big Data Analytics → Big Data Value</a:t>
            </a:r>
            <a:r>
              <a:rPr lang="pt-PT" sz="16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: </a:t>
            </a:r>
            <a:r>
              <a:rPr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extração de insights/informações acionáveis que antecipam necessidades, personalizam experiências e </a:t>
            </a:r>
            <a:r>
              <a:rPr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otimizam</a:t>
            </a:r>
            <a:r>
              <a:rPr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 campanhas publicitárias, gerando valor real para o negócio.</a:t>
            </a:r>
            <a:endParaRPr sz="1300"/>
          </a:p>
        </p:txBody>
      </p:sp>
      <p:sp>
        <p:nvSpPr>
          <p:cNvPr id="151" name="Google Shape;151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7"/>
          <p:cNvSpPr txBox="1"/>
          <p:nvPr>
            <p:ph type="title"/>
          </p:nvPr>
        </p:nvSpPr>
        <p:spPr>
          <a:xfrm>
            <a:off x="311700" y="2487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t-PT" sz="262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AUTOMAISE -</a:t>
            </a:r>
            <a:r>
              <a:rPr b="1" lang="pt-PT" sz="262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 Dados </a:t>
            </a:r>
            <a:r>
              <a:rPr b="1" lang="pt-PT" sz="262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e Analytics</a:t>
            </a:r>
            <a:endParaRPr b="1" sz="262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57" name="Google Shape;157;p27"/>
          <p:cNvSpPr txBox="1"/>
          <p:nvPr>
            <p:ph idx="1" type="body"/>
          </p:nvPr>
        </p:nvSpPr>
        <p:spPr>
          <a:xfrm>
            <a:off x="553871" y="1134650"/>
            <a:ext cx="3909600" cy="265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b="1" lang="pt-PT" sz="16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Tipos de dados utilizados:</a:t>
            </a:r>
            <a:endParaRPr b="1" sz="16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just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t/>
            </a:r>
            <a:endParaRPr b="1" sz="16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Estruturados </a:t>
            </a:r>
            <a:r>
              <a:rPr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- CRM, KPIs</a:t>
            </a:r>
            <a:endParaRPr sz="14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Não estruturados </a:t>
            </a:r>
            <a:r>
              <a:rPr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- chats, redes sociais</a:t>
            </a:r>
            <a:endParaRPr sz="14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Semi-estruturados</a:t>
            </a:r>
            <a:r>
              <a:rPr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 - formulários</a:t>
            </a:r>
            <a:endParaRPr sz="14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IoT </a:t>
            </a:r>
            <a:r>
              <a:rPr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- contexto e automatização</a:t>
            </a:r>
            <a:endParaRPr sz="14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58" name="Google Shape;158;p27"/>
          <p:cNvSpPr txBox="1"/>
          <p:nvPr/>
        </p:nvSpPr>
        <p:spPr>
          <a:xfrm>
            <a:off x="4740075" y="1147375"/>
            <a:ext cx="3623400" cy="31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PT" sz="16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Tipos de Analytics aplicados: </a:t>
            </a:r>
            <a:endParaRPr b="1" sz="16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just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Descritiva </a:t>
            </a:r>
            <a:r>
              <a:rPr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- compreender o passado</a:t>
            </a:r>
            <a:endParaRPr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Diagnóstica </a:t>
            </a:r>
            <a:r>
              <a:rPr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- identificar causas</a:t>
            </a:r>
            <a:endParaRPr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Preditiva </a:t>
            </a:r>
            <a:r>
              <a:rPr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-</a:t>
            </a:r>
            <a:r>
              <a:rPr b="1"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 </a:t>
            </a:r>
            <a:r>
              <a:rPr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prever cenários futuros </a:t>
            </a:r>
            <a:endParaRPr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Prescritiva</a:t>
            </a:r>
            <a:r>
              <a:rPr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 - recomendar ações</a:t>
            </a:r>
            <a:endParaRPr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Cognitiva </a:t>
            </a:r>
            <a:r>
              <a:rPr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- uso do PLN e IA</a:t>
            </a:r>
            <a:endParaRPr sz="1900">
              <a:solidFill>
                <a:schemeClr val="dk2"/>
              </a:solidFill>
            </a:endParaRPr>
          </a:p>
        </p:txBody>
      </p:sp>
      <p:sp>
        <p:nvSpPr>
          <p:cNvPr id="159" name="Google Shape;159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8"/>
          <p:cNvSpPr txBox="1"/>
          <p:nvPr>
            <p:ph type="title"/>
          </p:nvPr>
        </p:nvSpPr>
        <p:spPr>
          <a:xfrm>
            <a:off x="311700" y="252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t-PT" sz="262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AUTOMAISE -  Impacto</a:t>
            </a:r>
            <a:endParaRPr b="1" sz="262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65" name="Google Shape;165;p28"/>
          <p:cNvSpPr txBox="1"/>
          <p:nvPr>
            <p:ph idx="1" type="body"/>
          </p:nvPr>
        </p:nvSpPr>
        <p:spPr>
          <a:xfrm>
            <a:off x="739675" y="1255950"/>
            <a:ext cx="4920000" cy="311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608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Impacto no Marketing:</a:t>
            </a:r>
            <a:endParaRPr b="1" sz="1608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8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8015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8"/>
              <a:buFont typeface="Roboto Serif"/>
              <a:buChar char="➔"/>
            </a:pPr>
            <a:r>
              <a:rPr lang="pt-PT" sz="1408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Atendimento automatizado e humanizado</a:t>
            </a:r>
            <a:endParaRPr sz="1408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8015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8"/>
              <a:buFont typeface="Roboto Serif"/>
              <a:buChar char="➔"/>
            </a:pPr>
            <a:r>
              <a:rPr lang="pt-PT" sz="1408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Segmentação e campanhas personalizadas</a:t>
            </a:r>
            <a:endParaRPr sz="1408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8015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8"/>
              <a:buFont typeface="Roboto Serif"/>
              <a:buChar char="➔"/>
            </a:pPr>
            <a:r>
              <a:rPr lang="pt-PT" sz="1408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Melhoria do Customer Lifetime Value (CLV)</a:t>
            </a:r>
            <a:endParaRPr sz="1408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8015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8"/>
              <a:buFont typeface="Roboto Serif"/>
              <a:buChar char="➔"/>
            </a:pPr>
            <a:r>
              <a:rPr lang="pt-PT" sz="1408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Dec</a:t>
            </a:r>
            <a:r>
              <a:rPr lang="pt-PT" sz="1408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isões baseadas em dados (data-driven)</a:t>
            </a:r>
            <a:endParaRPr sz="1408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8015" lvl="0" marL="457200" rtl="0" algn="l">
              <a:lnSpc>
                <a:spcPct val="150000"/>
              </a:lnSpc>
              <a:spcBef>
                <a:spcPts val="1200"/>
              </a:spcBef>
              <a:spcAft>
                <a:spcPts val="1000"/>
              </a:spcAft>
              <a:buClr>
                <a:schemeClr val="lt1"/>
              </a:buClr>
              <a:buSzPts val="1408"/>
              <a:buFont typeface="Roboto Serif"/>
              <a:buChar char="➔"/>
            </a:pPr>
            <a:r>
              <a:rPr lang="pt-PT" sz="1408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Personalização contextual em tempo real</a:t>
            </a:r>
            <a:endParaRPr/>
          </a:p>
        </p:txBody>
      </p:sp>
      <p:sp>
        <p:nvSpPr>
          <p:cNvPr id="166" name="Google Shape;166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9"/>
          <p:cNvSpPr txBox="1"/>
          <p:nvPr>
            <p:ph type="title"/>
          </p:nvPr>
        </p:nvSpPr>
        <p:spPr>
          <a:xfrm>
            <a:off x="311700" y="252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t-PT" sz="262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AUTOMAISE - Benefícios e Desafios</a:t>
            </a:r>
            <a:endParaRPr b="1" sz="262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72" name="Google Shape;172;p29"/>
          <p:cNvSpPr txBox="1"/>
          <p:nvPr>
            <p:ph idx="1" type="body"/>
          </p:nvPr>
        </p:nvSpPr>
        <p:spPr>
          <a:xfrm>
            <a:off x="311700" y="1152475"/>
            <a:ext cx="3999900" cy="376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608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Benefícios:</a:t>
            </a:r>
            <a:endParaRPr b="1" sz="1608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8015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8"/>
              <a:buFont typeface="Roboto Serif"/>
              <a:buChar char="➔"/>
            </a:pPr>
            <a:r>
              <a:rPr lang="pt-PT" sz="1408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Redução de custos operacionais</a:t>
            </a:r>
            <a:endParaRPr sz="1408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801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8"/>
              <a:buFont typeface="Roboto Serif"/>
              <a:buChar char="➔"/>
            </a:pPr>
            <a:r>
              <a:rPr lang="pt-PT" sz="1408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Aumento da eficiência e rapidez no atendimento</a:t>
            </a:r>
            <a:endParaRPr sz="1408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➔"/>
            </a:pPr>
            <a:r>
              <a:rPr lang="pt-PT" sz="1408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Escalabilidade sem perder personalização</a:t>
            </a:r>
            <a:endParaRPr sz="1408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801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8"/>
              <a:buFont typeface="Roboto Serif"/>
              <a:buChar char="➔"/>
            </a:pPr>
            <a:r>
              <a:rPr lang="pt-PT" sz="1408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Publicidade mais dirigida e otimização automática de campanhas (ex: testes A/B)</a:t>
            </a:r>
            <a:endParaRPr sz="1408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801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8"/>
              <a:buFont typeface="Roboto Serif"/>
              <a:buChar char="➔"/>
            </a:pPr>
            <a:r>
              <a:rPr lang="pt-PT" sz="1408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Melhor experiência do consumidor, com interações adaptadas ao perfil</a:t>
            </a:r>
            <a:endParaRPr sz="1408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73" name="Google Shape;173;p2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6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Desafios:</a:t>
            </a:r>
            <a:endParaRPr b="1" sz="16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➔"/>
            </a:pPr>
            <a:r>
              <a:rPr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Qualidade e fiabilidade dos dados</a:t>
            </a:r>
            <a:endParaRPr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➔"/>
            </a:pPr>
            <a:r>
              <a:rPr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Privacidade e conformidade com RGPD</a:t>
            </a:r>
            <a:endParaRPr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➔"/>
            </a:pPr>
            <a:r>
              <a:rPr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Resistência à automação</a:t>
            </a:r>
            <a:endParaRPr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➔"/>
            </a:pPr>
            <a:r>
              <a:rPr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Manter o toque humano em momentos críticos</a:t>
            </a:r>
            <a:endParaRPr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➔"/>
            </a:pPr>
            <a:r>
              <a:rPr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Necessidade de atualização contínua dos modelos de IA</a:t>
            </a:r>
            <a:endParaRPr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74" name="Google Shape;174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0"/>
          <p:cNvSpPr txBox="1"/>
          <p:nvPr>
            <p:ph type="ctrTitle"/>
          </p:nvPr>
        </p:nvSpPr>
        <p:spPr>
          <a:xfrm>
            <a:off x="311700" y="201350"/>
            <a:ext cx="8520600" cy="95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CASO Nº2 : NETFLIX</a:t>
            </a:r>
            <a:endParaRPr b="1" sz="48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pic>
        <p:nvPicPr>
          <p:cNvPr id="180" name="Google Shape;18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12" y="1668100"/>
            <a:ext cx="7467577" cy="2393025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t-PT" sz="262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Netflix : O Poder dos Dados no Entretenimento</a:t>
            </a:r>
            <a:endParaRPr b="1" sz="262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87" name="Google Shape;187;p31"/>
          <p:cNvSpPr txBox="1"/>
          <p:nvPr>
            <p:ph idx="1" type="body"/>
          </p:nvPr>
        </p:nvSpPr>
        <p:spPr>
          <a:xfrm>
            <a:off x="311700" y="1152475"/>
            <a:ext cx="8520600" cy="38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just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625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Quem é a Netflix?</a:t>
            </a:r>
            <a:endParaRPr b="1" sz="1625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2785" lvl="0" marL="457200" rtl="0" algn="just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26"/>
              <a:buFont typeface="Roboto Serif"/>
              <a:buChar char="➔"/>
            </a:pPr>
            <a:r>
              <a:rPr lang="pt-PT" sz="1325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Empresa global de streaming e tecnologia</a:t>
            </a:r>
            <a:br>
              <a:rPr lang="pt-PT" sz="1325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</a:br>
            <a:endParaRPr sz="1325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2785" lvl="0" marL="457200" rtl="0"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26"/>
              <a:buFont typeface="Roboto Serif"/>
              <a:buChar char="➔"/>
            </a:pPr>
            <a:r>
              <a:rPr lang="pt-PT" sz="1325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+300 milhões de assinantes (2024), presente em +190 países</a:t>
            </a:r>
            <a:br>
              <a:rPr lang="pt-PT" sz="1325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</a:br>
            <a:endParaRPr sz="1325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2785" lvl="0" marL="457200" rtl="0"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26"/>
              <a:buFont typeface="Roboto Serif"/>
              <a:buChar char="➔"/>
            </a:pPr>
            <a:r>
              <a:rPr lang="pt-PT" sz="1325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Catálogo: +15 mil títulos</a:t>
            </a:r>
            <a:br>
              <a:rPr lang="pt-PT" sz="1325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</a:br>
            <a:endParaRPr sz="1325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2785" lvl="0" marL="457200" rtl="0"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26"/>
              <a:buFont typeface="Roboto Serif"/>
              <a:buChar char="➔"/>
            </a:pPr>
            <a:r>
              <a:rPr lang="pt-PT" sz="1325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Referência mundial em personalização e uso de IA</a:t>
            </a:r>
            <a:br>
              <a:rPr lang="pt-PT" sz="1325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</a:br>
            <a:endParaRPr sz="1325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just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625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Objetivo com IA &amp; Dados:</a:t>
            </a:r>
            <a:endParaRPr b="1" sz="1625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1150" lvl="0" marL="457200" rtl="0" algn="just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 Serif"/>
              <a:buChar char="➔"/>
            </a:pPr>
            <a:r>
              <a:rPr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Personalizar experiências</a:t>
            </a:r>
            <a:br>
              <a:rPr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</a:br>
            <a:endParaRPr sz="13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1150" lvl="0" marL="457200" rtl="0"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 Serif"/>
              <a:buChar char="➔"/>
            </a:pPr>
            <a:r>
              <a:rPr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Reter utilizadores/consumidores</a:t>
            </a:r>
            <a:br>
              <a:rPr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</a:br>
            <a:endParaRPr sz="13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1150" lvl="0" marL="457200" rtl="0"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 Serif"/>
              <a:buChar char="➔"/>
            </a:pPr>
            <a:r>
              <a:rPr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Otimizar decisões e produtos com base em Machine Learning</a:t>
            </a:r>
            <a:endParaRPr sz="1300"/>
          </a:p>
        </p:txBody>
      </p:sp>
      <p:sp>
        <p:nvSpPr>
          <p:cNvPr id="188" name="Google Shape;188;p31"/>
          <p:cNvSpPr/>
          <p:nvPr/>
        </p:nvSpPr>
        <p:spPr>
          <a:xfrm>
            <a:off x="6333275" y="1482650"/>
            <a:ext cx="2499000" cy="2745600"/>
          </a:xfrm>
          <a:prstGeom prst="rect">
            <a:avLst/>
          </a:prstGeom>
          <a:solidFill>
            <a:schemeClr val="lt1"/>
          </a:solidFill>
          <a:ln cap="flat" cmpd="sng" w="76200">
            <a:solidFill>
              <a:srgbClr val="CB56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9" name="Google Shape;18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20738" y="1694725"/>
            <a:ext cx="2324075" cy="232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2"/>
          <p:cNvSpPr txBox="1"/>
          <p:nvPr>
            <p:ph type="title"/>
          </p:nvPr>
        </p:nvSpPr>
        <p:spPr>
          <a:xfrm>
            <a:off x="311700" y="289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t-PT" sz="262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Como a Netflix usa Machine Learning:</a:t>
            </a:r>
            <a:endParaRPr b="1" sz="262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96" name="Google Shape;196;p3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6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1. Algoritmos de Recomendação</a:t>
            </a:r>
            <a:endParaRPr b="1" sz="16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1150" lvl="0" marL="457200" rtl="0" algn="just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 Serif"/>
              <a:buChar char="➔"/>
            </a:pPr>
            <a:r>
              <a:rPr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Filtros colaborativos + redes neurais</a:t>
            </a:r>
            <a:br>
              <a:rPr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</a:br>
            <a:endParaRPr sz="13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 Serif"/>
              <a:buChar char="➔"/>
            </a:pPr>
            <a:r>
              <a:rPr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+80% dos conteúdos assistidos vêm das sugestões</a:t>
            </a:r>
            <a:br>
              <a:rPr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</a:br>
            <a:endParaRPr sz="13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 Serif"/>
              <a:buChar char="➔"/>
            </a:pPr>
            <a:r>
              <a:rPr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Análise de visualizações, pausas, retrocessos, etc.</a:t>
            </a:r>
            <a:br>
              <a:rPr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</a:br>
            <a:endParaRPr sz="13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6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2. Marketing “Invisível”</a:t>
            </a:r>
            <a:endParaRPr b="1" sz="16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1150" lvl="0" marL="457200" rtl="0" algn="just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 Serif"/>
              <a:buChar char="➔"/>
            </a:pPr>
            <a:r>
              <a:rPr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Thumbnails e trailers adaptados ao perfil</a:t>
            </a:r>
            <a:br>
              <a:rPr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</a:br>
            <a:endParaRPr sz="13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 Serif"/>
              <a:buChar char="➔"/>
            </a:pPr>
            <a:r>
              <a:rPr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Sinopses personalizadas → mais cliques</a:t>
            </a:r>
            <a:endParaRPr sz="13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97" name="Google Shape;197;p3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6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3. Prevenção de Churn</a:t>
            </a:r>
            <a:endParaRPr b="1" sz="16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1150" lvl="0" marL="457200" rtl="0" algn="just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 Serif"/>
              <a:buChar char="➔"/>
            </a:pPr>
            <a:r>
              <a:rPr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Modelos preditivos identificam algum risco de cancelamento</a:t>
            </a:r>
            <a:br>
              <a:rPr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</a:br>
            <a:endParaRPr sz="13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 Serif"/>
              <a:buChar char="➔"/>
            </a:pPr>
            <a:r>
              <a:rPr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Ações: sugestões, ofertas, notificações</a:t>
            </a:r>
            <a:br>
              <a:rPr lang="pt-PT" sz="1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</a:br>
            <a:endParaRPr sz="12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Tecnologias:</a:t>
            </a:r>
            <a:r>
              <a:rPr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 </a:t>
            </a:r>
            <a:r>
              <a:rPr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AWS, Python, Spark, visualizações em tempo real</a:t>
            </a:r>
            <a:endParaRPr sz="16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cxnSp>
        <p:nvCxnSpPr>
          <p:cNvPr id="198" name="Google Shape;198;p32"/>
          <p:cNvCxnSpPr/>
          <p:nvPr/>
        </p:nvCxnSpPr>
        <p:spPr>
          <a:xfrm>
            <a:off x="4560750" y="925250"/>
            <a:ext cx="22500" cy="36957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9" name="Google Shape;199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3"/>
          <p:cNvSpPr txBox="1"/>
          <p:nvPr>
            <p:ph type="title"/>
          </p:nvPr>
        </p:nvSpPr>
        <p:spPr>
          <a:xfrm>
            <a:off x="311700" y="262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t-PT" sz="262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Analytics, Impactos e Ética</a:t>
            </a:r>
            <a:endParaRPr b="1" sz="262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05" name="Google Shape;205;p33"/>
          <p:cNvSpPr txBox="1"/>
          <p:nvPr>
            <p:ph idx="1" type="body"/>
          </p:nvPr>
        </p:nvSpPr>
        <p:spPr>
          <a:xfrm>
            <a:off x="311700" y="1152475"/>
            <a:ext cx="3999900" cy="3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6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Tipos de Análise</a:t>
            </a:r>
            <a:endParaRPr b="1" sz="16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Char char="➔"/>
            </a:pPr>
            <a:r>
              <a:rPr b="1"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Descritiva:</a:t>
            </a:r>
            <a:r>
              <a:rPr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 Dashboards de consumo</a:t>
            </a:r>
            <a:br>
              <a:rPr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</a:br>
            <a:endParaRPr sz="13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➔"/>
            </a:pPr>
            <a:r>
              <a:rPr b="1"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Preditiva:</a:t>
            </a:r>
            <a:r>
              <a:rPr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 Redes neurais → preferências &amp; churn</a:t>
            </a:r>
            <a:br>
              <a:rPr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</a:br>
            <a:endParaRPr sz="13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➔"/>
            </a:pPr>
            <a:r>
              <a:rPr b="1"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Prescritiva:</a:t>
            </a:r>
            <a:r>
              <a:rPr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 A/B Testing automatizado</a:t>
            </a:r>
            <a:endParaRPr sz="13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Conclusão:</a:t>
            </a:r>
            <a:r>
              <a:rPr lang="pt-PT" sz="1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 </a:t>
            </a:r>
            <a:r>
              <a:rPr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A Netflix é um exemplo de IA invisível, mas poderosa. Esta molda experiências, fideliza clientes e levanta questões sobre a responsabilidade algorítmica.</a:t>
            </a:r>
            <a:endParaRPr sz="13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06" name="Google Shape;206;p33"/>
          <p:cNvSpPr txBox="1"/>
          <p:nvPr>
            <p:ph idx="2" type="body"/>
          </p:nvPr>
        </p:nvSpPr>
        <p:spPr>
          <a:xfrm>
            <a:off x="5005875" y="1152475"/>
            <a:ext cx="3639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PT" sz="16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Impacto no Utilizador:</a:t>
            </a:r>
            <a:br>
              <a:rPr b="1" lang="pt-PT" sz="1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</a:br>
            <a:r>
              <a:rPr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  Descoberta fácil de conteúdo</a:t>
            </a:r>
            <a:br>
              <a:rPr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</a:br>
            <a:r>
              <a:rPr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  Sensação de personalização</a:t>
            </a:r>
            <a:br>
              <a:rPr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</a:br>
            <a:r>
              <a:rPr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  Redução do "paradoxo da escolha"</a:t>
            </a:r>
            <a:endParaRPr sz="13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4572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PT" sz="16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Riscos Éticos:</a:t>
            </a:r>
            <a:br>
              <a:rPr b="1" lang="pt-PT" sz="1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</a:br>
            <a:r>
              <a:rPr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  Bolhas de conteúdo</a:t>
            </a:r>
            <a:br>
              <a:rPr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</a:br>
            <a:r>
              <a:rPr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  Falta de transparência algorítmica</a:t>
            </a:r>
            <a:br>
              <a:rPr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</a:br>
            <a:r>
              <a:rPr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  Indução ao binge-watching</a:t>
            </a:r>
            <a:endParaRPr sz="1500"/>
          </a:p>
        </p:txBody>
      </p:sp>
      <p:cxnSp>
        <p:nvCxnSpPr>
          <p:cNvPr id="207" name="Google Shape;207;p33"/>
          <p:cNvCxnSpPr/>
          <p:nvPr/>
        </p:nvCxnSpPr>
        <p:spPr>
          <a:xfrm>
            <a:off x="4560750" y="925250"/>
            <a:ext cx="22500" cy="36957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8" name="Google Shape;208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4"/>
          <p:cNvSpPr txBox="1"/>
          <p:nvPr>
            <p:ph type="ctrTitle"/>
          </p:nvPr>
        </p:nvSpPr>
        <p:spPr>
          <a:xfrm>
            <a:off x="311700" y="201350"/>
            <a:ext cx="8520600" cy="95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CASO Nº3 : SPOTIFY</a:t>
            </a:r>
            <a:endParaRPr b="1" sz="48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14" name="Google Shape;214;p34"/>
          <p:cNvSpPr/>
          <p:nvPr/>
        </p:nvSpPr>
        <p:spPr>
          <a:xfrm>
            <a:off x="577050" y="1555875"/>
            <a:ext cx="7989900" cy="2864700"/>
          </a:xfrm>
          <a:prstGeom prst="rect">
            <a:avLst/>
          </a:prstGeom>
          <a:solidFill>
            <a:schemeClr val="lt1"/>
          </a:solidFill>
          <a:ln cap="flat" cmpd="sng" w="76200">
            <a:solidFill>
              <a:srgbClr val="CB56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5" name="Google Shape;21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4301" y="1838788"/>
            <a:ext cx="7655398" cy="229887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t-PT" sz="262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Apresentação Geral e Parcerias Estratégicas</a:t>
            </a:r>
            <a:endParaRPr b="1" sz="262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22" name="Google Shape;222;p35"/>
          <p:cNvSpPr txBox="1"/>
          <p:nvPr>
            <p:ph idx="1" type="body"/>
          </p:nvPr>
        </p:nvSpPr>
        <p:spPr>
          <a:xfrm>
            <a:off x="603375" y="1317150"/>
            <a:ext cx="7732800" cy="329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O </a:t>
            </a:r>
            <a:r>
              <a:rPr b="1"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Spotify</a:t>
            </a:r>
            <a:r>
              <a:rPr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 é o líder global de streaming musical (fechou 2024 com 675M de utilizadores), oferecendo milhões de músicas e podcasts.</a:t>
            </a:r>
            <a:br>
              <a:rPr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</a:br>
            <a:endParaRPr sz="14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Destaca-se pelo seu design intuitivo, funcionalidades sociais e personalização da experiência do utilizador (UX).</a:t>
            </a:r>
            <a:br>
              <a:rPr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</a:br>
            <a:endParaRPr sz="14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Parcerias de alto impacto: </a:t>
            </a:r>
            <a:r>
              <a:rPr b="1"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FC Barcelona</a:t>
            </a:r>
            <a:r>
              <a:rPr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, </a:t>
            </a:r>
            <a:r>
              <a:rPr b="1"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Microsoft</a:t>
            </a:r>
            <a:r>
              <a:rPr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, </a:t>
            </a:r>
            <a:r>
              <a:rPr b="1"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Starbucks</a:t>
            </a:r>
            <a:r>
              <a:rPr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.</a:t>
            </a:r>
            <a:br>
              <a:rPr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</a:br>
            <a:endParaRPr sz="14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7500" lvl="0" marL="457200" rtl="0" algn="just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➔"/>
            </a:pPr>
            <a:r>
              <a:rPr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Ex: Spotify Camp Nou e playlists de jogadores do Barcelona.</a:t>
            </a:r>
            <a:endParaRPr sz="21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23" name="Google Shape;223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6"/>
          <p:cNvSpPr txBox="1"/>
          <p:nvPr>
            <p:ph type="title"/>
          </p:nvPr>
        </p:nvSpPr>
        <p:spPr>
          <a:xfrm>
            <a:off x="311700" y="2619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t-PT" sz="302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Parceria com o FC Barcelona</a:t>
            </a:r>
            <a:endParaRPr b="1" sz="302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pic>
        <p:nvPicPr>
          <p:cNvPr id="229" name="Google Shape;22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9600" y="1118725"/>
            <a:ext cx="2425800" cy="2425800"/>
          </a:xfrm>
          <a:prstGeom prst="rect">
            <a:avLst/>
          </a:prstGeom>
          <a:noFill/>
          <a:ln cap="flat" cmpd="sng" w="76200">
            <a:solidFill>
              <a:srgbClr val="CB5614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30" name="Google Shape;230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1050" y="1207675"/>
            <a:ext cx="3600450" cy="2247900"/>
          </a:xfrm>
          <a:prstGeom prst="rect">
            <a:avLst/>
          </a:prstGeom>
          <a:noFill/>
          <a:ln cap="flat" cmpd="sng" w="76200">
            <a:solidFill>
              <a:srgbClr val="CB561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31" name="Google Shape;231;p36"/>
          <p:cNvSpPr txBox="1"/>
          <p:nvPr/>
        </p:nvSpPr>
        <p:spPr>
          <a:xfrm>
            <a:off x="637500" y="3828575"/>
            <a:ext cx="8120100" cy="9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Fig. 1</a:t>
            </a:r>
            <a:r>
              <a:rPr lang="pt-PT"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 - Como o Spotify é tanto um parceiro de Marketing como de Publicidade para o FC Barcelona, cria-se um ambiente mutuamente benéfico para as duas partes.</a:t>
            </a:r>
            <a:endParaRPr sz="15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32" name="Google Shape;232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7"/>
          <p:cNvSpPr txBox="1"/>
          <p:nvPr>
            <p:ph type="title"/>
          </p:nvPr>
        </p:nvSpPr>
        <p:spPr>
          <a:xfrm>
            <a:off x="311700" y="252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t-PT" sz="262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Business Analytics e Machine-Learning</a:t>
            </a:r>
            <a:endParaRPr b="1" sz="262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38" name="Google Shape;238;p3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6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Discover Weekly</a:t>
            </a:r>
            <a:r>
              <a:rPr lang="pt-PT" sz="16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 (desde 2015):</a:t>
            </a:r>
            <a:endParaRPr sz="16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115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Char char="➔"/>
            </a:pPr>
            <a:r>
              <a:rPr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Playlist semanal personalizada via </a:t>
            </a:r>
            <a:r>
              <a:rPr b="1"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Predictive Analytics</a:t>
            </a:r>
            <a:r>
              <a:rPr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.</a:t>
            </a:r>
            <a:br>
              <a:rPr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</a:br>
            <a:endParaRPr sz="13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11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 Serif"/>
              <a:buChar char="➔"/>
            </a:pPr>
            <a:r>
              <a:rPr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Baseada nos hábitos de escuta, géneros favoritos e interações anteriores.</a:t>
            </a:r>
            <a:br>
              <a:rPr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</a:br>
            <a:endParaRPr sz="13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11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 Serif"/>
              <a:buChar char="➔"/>
            </a:pPr>
            <a:r>
              <a:rPr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Benefícios: maior tempo de utilização, retenção de clientes (maior taxa de retenção) e descoberta de novos artistas musicais.</a:t>
            </a:r>
            <a:endParaRPr sz="13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39" name="Google Shape;239;p3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b="1" lang="pt-PT" sz="16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Spotify Wrapped</a:t>
            </a:r>
            <a:r>
              <a:rPr lang="pt-PT" sz="16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:</a:t>
            </a:r>
            <a:endParaRPr sz="16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04958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➔"/>
            </a:pPr>
            <a:r>
              <a:rPr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Resumo anual com </a:t>
            </a:r>
            <a:r>
              <a:rPr b="1"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Descriptive Analytics</a:t>
            </a:r>
            <a:r>
              <a:rPr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 sobre o comportamento musical do utilizador.</a:t>
            </a:r>
            <a:br>
              <a:rPr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</a:br>
            <a:endParaRPr sz="13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04958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➔"/>
            </a:pPr>
            <a:r>
              <a:rPr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Apoiado no </a:t>
            </a:r>
            <a:r>
              <a:rPr b="1"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Google Cloud Platform (GCP) - um conjunto de serviços de computação em cloud</a:t>
            </a:r>
            <a:r>
              <a:rPr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.</a:t>
            </a:r>
            <a:br>
              <a:rPr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</a:br>
            <a:endParaRPr sz="13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04958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Roboto Serif"/>
              <a:buChar char="➔"/>
            </a:pPr>
            <a:r>
              <a:rPr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Possibilita integração social, visibilidade da marca Spotify e marketing orgânico.</a:t>
            </a:r>
            <a:endParaRPr sz="1300"/>
          </a:p>
        </p:txBody>
      </p:sp>
      <p:cxnSp>
        <p:nvCxnSpPr>
          <p:cNvPr id="240" name="Google Shape;240;p37"/>
          <p:cNvCxnSpPr/>
          <p:nvPr/>
        </p:nvCxnSpPr>
        <p:spPr>
          <a:xfrm>
            <a:off x="4560750" y="925250"/>
            <a:ext cx="22500" cy="36957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1" name="Google Shape;241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8"/>
          <p:cNvSpPr txBox="1"/>
          <p:nvPr>
            <p:ph type="title"/>
          </p:nvPr>
        </p:nvSpPr>
        <p:spPr>
          <a:xfrm>
            <a:off x="311700" y="225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t-PT" sz="262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O SPOTIFY WRAPPED E O DISCOVER WEEKLY</a:t>
            </a:r>
            <a:endParaRPr b="1" sz="262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pic>
        <p:nvPicPr>
          <p:cNvPr id="247" name="Google Shape;247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4325" y="1057673"/>
            <a:ext cx="2895275" cy="2734450"/>
          </a:xfrm>
          <a:prstGeom prst="rect">
            <a:avLst/>
          </a:prstGeom>
          <a:noFill/>
          <a:ln cap="flat" cmpd="sng" w="76200">
            <a:solidFill>
              <a:srgbClr val="CB5614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48" name="Google Shape;248;p38"/>
          <p:cNvPicPr preferRelativeResize="0"/>
          <p:nvPr/>
        </p:nvPicPr>
        <p:blipFill rotWithShape="1">
          <a:blip r:embed="rId4">
            <a:alphaModFix/>
          </a:blip>
          <a:srcRect b="12370" l="4216" r="5693" t="12700"/>
          <a:stretch/>
        </p:blipFill>
        <p:spPr>
          <a:xfrm>
            <a:off x="4475400" y="1665475"/>
            <a:ext cx="3895725" cy="1809750"/>
          </a:xfrm>
          <a:prstGeom prst="rect">
            <a:avLst/>
          </a:prstGeom>
          <a:noFill/>
          <a:ln cap="flat" cmpd="sng" w="76200">
            <a:solidFill>
              <a:srgbClr val="CB561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49" name="Google Shape;249;p38"/>
          <p:cNvSpPr txBox="1"/>
          <p:nvPr/>
        </p:nvSpPr>
        <p:spPr>
          <a:xfrm>
            <a:off x="959550" y="4051725"/>
            <a:ext cx="7437300" cy="5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Fig. 2 </a:t>
            </a:r>
            <a:r>
              <a:rPr lang="pt-PT"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- Exemplos do Discover Weekly e do Spotify Wrapped, duas funcionalidades inovadoras produzidas por Business Analytics.</a:t>
            </a:r>
            <a:endParaRPr sz="15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cxnSp>
        <p:nvCxnSpPr>
          <p:cNvPr id="250" name="Google Shape;250;p38"/>
          <p:cNvCxnSpPr/>
          <p:nvPr/>
        </p:nvCxnSpPr>
        <p:spPr>
          <a:xfrm rot="10800000">
            <a:off x="3935400" y="3505450"/>
            <a:ext cx="429000" cy="569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1" name="Google Shape;251;p38"/>
          <p:cNvCxnSpPr/>
          <p:nvPr/>
        </p:nvCxnSpPr>
        <p:spPr>
          <a:xfrm flipH="1" rot="10800000">
            <a:off x="6440450" y="3760100"/>
            <a:ext cx="23400" cy="330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2" name="Google Shape;252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t-PT" sz="262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Conclusão e Estratégia de Dados</a:t>
            </a:r>
            <a:endParaRPr b="1" sz="262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58" name="Google Shape;258;p39"/>
          <p:cNvSpPr txBox="1"/>
          <p:nvPr>
            <p:ph idx="1" type="body"/>
          </p:nvPr>
        </p:nvSpPr>
        <p:spPr>
          <a:xfrm>
            <a:off x="311700" y="1441050"/>
            <a:ext cx="8520600" cy="24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O Spotify aplica Business Analytics (BA) de forma </a:t>
            </a:r>
            <a:r>
              <a:rPr b="1"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estratégica e criativa</a:t>
            </a:r>
            <a:r>
              <a:rPr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:</a:t>
            </a:r>
            <a:br>
              <a:rPr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</a:br>
            <a:endParaRPr sz="14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➔"/>
            </a:pPr>
            <a:r>
              <a:rPr b="1"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Predictive</a:t>
            </a:r>
            <a:r>
              <a:rPr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, </a:t>
            </a:r>
            <a:r>
              <a:rPr b="1"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Descriptive</a:t>
            </a:r>
            <a:r>
              <a:rPr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 e </a:t>
            </a:r>
            <a:r>
              <a:rPr b="1"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Wisdom Analytics</a:t>
            </a:r>
            <a:r>
              <a:rPr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.</a:t>
            </a:r>
            <a:br>
              <a:rPr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</a:br>
            <a:endParaRPr sz="14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Converte dados em </a:t>
            </a:r>
            <a:r>
              <a:rPr b="1"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experiências personalizadas</a:t>
            </a:r>
            <a:r>
              <a:rPr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 e insights de negócio.</a:t>
            </a:r>
            <a:br>
              <a:rPr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</a:br>
            <a:endParaRPr sz="14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Combina </a:t>
            </a:r>
            <a:r>
              <a:rPr b="1"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tecnologia, música e marketing</a:t>
            </a:r>
            <a:r>
              <a:rPr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 para reforçar o vínculo com o utilizador e promover a inovação contínua.</a:t>
            </a:r>
            <a:endParaRPr sz="14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59" name="Google Shape;259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t-PT" sz="372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CASO Nº4 : YouTube e Instagram</a:t>
            </a:r>
            <a:endParaRPr b="1" sz="372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65" name="Google Shape;265;p40"/>
          <p:cNvSpPr/>
          <p:nvPr/>
        </p:nvSpPr>
        <p:spPr>
          <a:xfrm>
            <a:off x="600325" y="1555875"/>
            <a:ext cx="4191900" cy="2316900"/>
          </a:xfrm>
          <a:prstGeom prst="rect">
            <a:avLst/>
          </a:prstGeom>
          <a:solidFill>
            <a:schemeClr val="lt1"/>
          </a:solidFill>
          <a:ln cap="flat" cmpd="sng" w="76200">
            <a:solidFill>
              <a:srgbClr val="CB56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6" name="Google Shape;266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1375" y="1876638"/>
            <a:ext cx="3989801" cy="1675375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40"/>
          <p:cNvSpPr/>
          <p:nvPr/>
        </p:nvSpPr>
        <p:spPr>
          <a:xfrm>
            <a:off x="5582500" y="1442175"/>
            <a:ext cx="2846400" cy="2544300"/>
          </a:xfrm>
          <a:prstGeom prst="rect">
            <a:avLst/>
          </a:prstGeom>
          <a:solidFill>
            <a:schemeClr val="lt1"/>
          </a:solidFill>
          <a:ln cap="flat" cmpd="sng" w="76200">
            <a:solidFill>
              <a:srgbClr val="CB56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8" name="Google Shape;268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47275" y="1555900"/>
            <a:ext cx="2316850" cy="231685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t-PT" sz="262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Introdução e Algoritmos do Instagram</a:t>
            </a:r>
            <a:endParaRPr b="1" sz="262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75" name="Google Shape;275;p41"/>
          <p:cNvSpPr txBox="1"/>
          <p:nvPr>
            <p:ph idx="1" type="body"/>
          </p:nvPr>
        </p:nvSpPr>
        <p:spPr>
          <a:xfrm>
            <a:off x="311700" y="1228675"/>
            <a:ext cx="4449300" cy="35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O Instagram e o YouTube usam </a:t>
            </a:r>
            <a:r>
              <a:rPr b="1"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Machine-Learning</a:t>
            </a:r>
            <a:r>
              <a:rPr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 para capturar e “sequestrar” a atenção dos utilizadores.</a:t>
            </a:r>
            <a:br>
              <a:rPr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</a:br>
            <a:r>
              <a:rPr b="1" lang="pt-PT" sz="16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Instagram Reels</a:t>
            </a:r>
            <a:r>
              <a:rPr lang="pt-PT" sz="16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:</a:t>
            </a:r>
            <a:endParaRPr sz="16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➔"/>
            </a:pPr>
            <a:r>
              <a:rPr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Resposta ao sucesso do TikTok: vídeos curtos, looping e scroll infinito.</a:t>
            </a:r>
            <a:br>
              <a:rPr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</a:br>
            <a:endParaRPr sz="14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➔"/>
            </a:pPr>
            <a:r>
              <a:rPr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Algoritmo analisa: tempo de visualização, interações, contas favoritas, som e imagem.</a:t>
            </a:r>
            <a:br>
              <a:rPr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</a:br>
            <a:endParaRPr sz="14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➔"/>
            </a:pPr>
            <a:r>
              <a:rPr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Criam um feed </a:t>
            </a:r>
            <a:r>
              <a:rPr b="1"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altamente personalizado</a:t>
            </a:r>
            <a:r>
              <a:rPr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 e viciante.</a:t>
            </a:r>
            <a:endParaRPr sz="14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pic>
        <p:nvPicPr>
          <p:cNvPr id="276" name="Google Shape;276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9450" y="1660525"/>
            <a:ext cx="3600450" cy="2400300"/>
          </a:xfrm>
          <a:prstGeom prst="rect">
            <a:avLst/>
          </a:prstGeom>
          <a:noFill/>
          <a:ln cap="flat" cmpd="sng" w="76200">
            <a:solidFill>
              <a:srgbClr val="CB561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77" name="Google Shape;277;p41"/>
          <p:cNvSpPr txBox="1"/>
          <p:nvPr/>
        </p:nvSpPr>
        <p:spPr>
          <a:xfrm>
            <a:off x="5149875" y="4264900"/>
            <a:ext cx="3459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Fig. 3</a:t>
            </a:r>
            <a:r>
              <a:rPr lang="pt-PT"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 - Reels do Instagram.</a:t>
            </a:r>
            <a:endParaRPr sz="15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78" name="Google Shape;278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t-PT" sz="262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Algoritmos do YouTube e Business Analytics</a:t>
            </a:r>
            <a:endParaRPr b="1" sz="262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84" name="Google Shape;284;p42"/>
          <p:cNvSpPr txBox="1"/>
          <p:nvPr>
            <p:ph idx="1" type="body"/>
          </p:nvPr>
        </p:nvSpPr>
        <p:spPr>
          <a:xfrm>
            <a:off x="311700" y="1152475"/>
            <a:ext cx="8520600" cy="3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286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b="1" lang="pt-PT" sz="16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YouTube</a:t>
            </a:r>
            <a:r>
              <a:rPr lang="pt-PT" sz="16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:</a:t>
            </a:r>
            <a:endParaRPr sz="16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➔"/>
            </a:pPr>
            <a:r>
              <a:rPr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Usa ML para recomendar vídeos e personalizar publicidade.</a:t>
            </a:r>
            <a:br>
              <a:rPr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</a:br>
            <a:endParaRPr sz="14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➔"/>
            </a:pPr>
            <a:r>
              <a:rPr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Baseado no histórico, localização, dispositivo, interações e metadados dos vídeos.</a:t>
            </a:r>
            <a:br>
              <a:rPr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</a:br>
            <a:endParaRPr sz="14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➔"/>
            </a:pPr>
            <a:r>
              <a:rPr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Publicidade segmentada com Google Ads: precisa, quase invisível, mas eficaz.</a:t>
            </a:r>
            <a:endParaRPr sz="14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b="1" lang="pt-PT" sz="16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Business Analytics Aplicados</a:t>
            </a:r>
            <a:r>
              <a:rPr lang="pt-PT" sz="16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:</a:t>
            </a:r>
            <a:endParaRPr sz="16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➔"/>
            </a:pPr>
            <a:r>
              <a:rPr b="1"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Descritiva</a:t>
            </a:r>
            <a:r>
              <a:rPr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: métricas de retenção e tempo de visão.</a:t>
            </a:r>
            <a:br>
              <a:rPr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</a:br>
            <a:endParaRPr sz="14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➔"/>
            </a:pPr>
            <a:r>
              <a:rPr b="1"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Preditiva</a:t>
            </a:r>
            <a:r>
              <a:rPr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: antecipação de tendências com clustering e redes neurais.</a:t>
            </a:r>
            <a:br>
              <a:rPr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</a:br>
            <a:endParaRPr sz="14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➔"/>
            </a:pPr>
            <a:r>
              <a:rPr b="1"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Prescritiva</a:t>
            </a:r>
            <a:r>
              <a:rPr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: testes A/B e </a:t>
            </a:r>
            <a:r>
              <a:rPr i="1"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reinforcement learning</a:t>
            </a:r>
            <a:r>
              <a:rPr lang="pt-PT" sz="1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 para otimizar conteúdos e anúncios.</a:t>
            </a:r>
            <a:endParaRPr sz="14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85" name="Google Shape;285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3"/>
          <p:cNvSpPr txBox="1"/>
          <p:nvPr>
            <p:ph type="title"/>
          </p:nvPr>
        </p:nvSpPr>
        <p:spPr>
          <a:xfrm>
            <a:off x="311700" y="289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t-PT" sz="262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COMO </a:t>
            </a:r>
            <a:r>
              <a:rPr b="1" lang="pt-PT" sz="262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A PUBLICIDADE </a:t>
            </a:r>
            <a:r>
              <a:rPr b="1" lang="pt-PT" sz="262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É INFLUENCIADA PELO CONSUMO:</a:t>
            </a:r>
            <a:endParaRPr b="1" sz="262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pic>
        <p:nvPicPr>
          <p:cNvPr id="291" name="Google Shape;29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1775" y="1447800"/>
            <a:ext cx="3600450" cy="2247900"/>
          </a:xfrm>
          <a:prstGeom prst="rect">
            <a:avLst/>
          </a:prstGeom>
          <a:noFill/>
          <a:ln cap="flat" cmpd="sng" w="76200">
            <a:solidFill>
              <a:srgbClr val="CB561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92" name="Google Shape;292;p43"/>
          <p:cNvSpPr txBox="1"/>
          <p:nvPr/>
        </p:nvSpPr>
        <p:spPr>
          <a:xfrm>
            <a:off x="1542600" y="3956675"/>
            <a:ext cx="6058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Fig. 4 </a:t>
            </a:r>
            <a:r>
              <a:rPr lang="pt-PT"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- Exemplo de como o nosso consumo influencia a publicidade a que somos expostos.</a:t>
            </a:r>
            <a:endParaRPr sz="15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93" name="Google Shape;293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4"/>
          <p:cNvSpPr txBox="1"/>
          <p:nvPr>
            <p:ph type="title"/>
          </p:nvPr>
        </p:nvSpPr>
        <p:spPr>
          <a:xfrm>
            <a:off x="311700" y="179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t-PT" sz="262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Algoritmos do YouTube e Business Analytics</a:t>
            </a:r>
            <a:endParaRPr b="1" sz="262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99" name="Google Shape;299;p44"/>
          <p:cNvSpPr txBox="1"/>
          <p:nvPr>
            <p:ph idx="1" type="body"/>
          </p:nvPr>
        </p:nvSpPr>
        <p:spPr>
          <a:xfrm>
            <a:off x="433875" y="923875"/>
            <a:ext cx="3877800" cy="433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6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Vantagens</a:t>
            </a:r>
            <a:r>
              <a:rPr lang="pt-PT" sz="16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:</a:t>
            </a:r>
            <a:endParaRPr sz="16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 Serif"/>
              <a:buChar char="➔"/>
            </a:pPr>
            <a:r>
              <a:rPr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Experiência única, fluida e personalizada.</a:t>
            </a:r>
            <a:br>
              <a:rPr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</a:br>
            <a:endParaRPr sz="13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 Serif"/>
              <a:buChar char="➔"/>
            </a:pPr>
            <a:r>
              <a:rPr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Descoberta rápida de conteúdos relevantes.</a:t>
            </a:r>
            <a:br>
              <a:rPr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</a:br>
            <a:endParaRPr sz="13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 Serif"/>
              <a:buChar char="➔"/>
            </a:pPr>
            <a:r>
              <a:rPr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Publicidade alinhada aos interesses do utilizador.</a:t>
            </a:r>
            <a:br>
              <a:rPr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</a:br>
            <a:endParaRPr sz="12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Conclusão</a:t>
            </a:r>
            <a:r>
              <a:rPr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: </a:t>
            </a:r>
            <a:r>
              <a:rPr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Os algoritmos moldam o que vemos e influenciam o nosso comportamento digital — levantando desafios éticos sérios sobre privacidade, saúde mental e liberdade de escolha.</a:t>
            </a:r>
            <a:endParaRPr sz="13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300" name="Google Shape;300;p44"/>
          <p:cNvSpPr txBox="1"/>
          <p:nvPr>
            <p:ph idx="2" type="body"/>
          </p:nvPr>
        </p:nvSpPr>
        <p:spPr>
          <a:xfrm>
            <a:off x="4832400" y="1152475"/>
            <a:ext cx="3777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6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Riscos</a:t>
            </a:r>
            <a:r>
              <a:rPr lang="pt-PT" sz="16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:</a:t>
            </a:r>
            <a:br>
              <a:rPr lang="pt-PT" sz="16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</a:br>
            <a:endParaRPr sz="16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1150" lvl="0" marL="457200" rtl="0" algn="just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 Serif"/>
              <a:buChar char="➔"/>
            </a:pPr>
            <a:r>
              <a:rPr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Vício em scrolling infinito (doomscrolling).</a:t>
            </a:r>
            <a:br>
              <a:rPr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</a:br>
            <a:endParaRPr sz="13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 Serif"/>
              <a:buChar char="➔"/>
            </a:pPr>
            <a:r>
              <a:rPr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Bolhas de conteúdo e reforço de estereótipos.</a:t>
            </a:r>
            <a:br>
              <a:rPr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</a:br>
            <a:endParaRPr sz="13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 Serif"/>
              <a:buChar char="➔"/>
            </a:pPr>
            <a:r>
              <a:rPr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Publicidade invasiva sem consciência crítica.</a:t>
            </a:r>
            <a:endParaRPr sz="13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cxnSp>
        <p:nvCxnSpPr>
          <p:cNvPr id="301" name="Google Shape;301;p44"/>
          <p:cNvCxnSpPr/>
          <p:nvPr/>
        </p:nvCxnSpPr>
        <p:spPr>
          <a:xfrm>
            <a:off x="4560750" y="925250"/>
            <a:ext cx="22500" cy="36957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2" name="Google Shape;302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CONCLUSÕES GERAIS</a:t>
            </a:r>
            <a:endParaRPr b="1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308" name="Google Shape;308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36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CONCLUSÕES GERAIS 1/3</a:t>
            </a:r>
            <a:endParaRPr sz="3600"/>
          </a:p>
        </p:txBody>
      </p:sp>
      <p:sp>
        <p:nvSpPr>
          <p:cNvPr id="314" name="Google Shape;314;p46"/>
          <p:cNvSpPr txBox="1"/>
          <p:nvPr>
            <p:ph idx="1" type="body"/>
          </p:nvPr>
        </p:nvSpPr>
        <p:spPr>
          <a:xfrm>
            <a:off x="783775" y="1381075"/>
            <a:ext cx="7639500" cy="31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O Marketing e a Publicidade</a:t>
            </a:r>
            <a:r>
              <a:rPr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 são hoje </a:t>
            </a:r>
            <a:r>
              <a:rPr b="1"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ferramentas estratégicas</a:t>
            </a:r>
            <a:r>
              <a:rPr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 para criar </a:t>
            </a:r>
            <a:r>
              <a:rPr b="1"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valor mútuo</a:t>
            </a:r>
            <a:r>
              <a:rPr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 entre marcas e consumidores.</a:t>
            </a:r>
            <a:endParaRPr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A evolução digital impulsionou o uso de </a:t>
            </a:r>
            <a:r>
              <a:rPr b="1"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Big Data</a:t>
            </a:r>
            <a:r>
              <a:rPr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, </a:t>
            </a:r>
            <a:r>
              <a:rPr b="1"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Business Analytics</a:t>
            </a:r>
            <a:r>
              <a:rPr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, </a:t>
            </a:r>
            <a:r>
              <a:rPr b="1"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PLN</a:t>
            </a:r>
            <a:r>
              <a:rPr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 e </a:t>
            </a:r>
            <a:r>
              <a:rPr b="1"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Modelos de Linguagem de Grande Escala (LLMs)</a:t>
            </a:r>
            <a:r>
              <a:rPr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.</a:t>
            </a:r>
            <a:endParaRPr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16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Estas tecnologias permitem:</a:t>
            </a:r>
            <a:endParaRPr sz="16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7500" lvl="0" marL="457200" rtl="0" algn="just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➔"/>
            </a:pPr>
            <a:r>
              <a:rPr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Compreender desejos, comportamentos e emoções</a:t>
            </a:r>
            <a:br>
              <a:rPr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</a:br>
            <a:endParaRPr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➔"/>
            </a:pPr>
            <a:r>
              <a:rPr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Personalizar conteúdos e anúncios</a:t>
            </a:r>
            <a:br>
              <a:rPr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</a:br>
            <a:endParaRPr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➔"/>
            </a:pPr>
            <a:r>
              <a:rPr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Antecipar necessidades e adaptar mensagens</a:t>
            </a:r>
            <a:endParaRPr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315" name="Google Shape;315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36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CONCLUSÕES GERAIS 2/3</a:t>
            </a:r>
            <a:endParaRPr sz="3600"/>
          </a:p>
        </p:txBody>
      </p:sp>
      <p:sp>
        <p:nvSpPr>
          <p:cNvPr id="321" name="Google Shape;321;p47"/>
          <p:cNvSpPr txBox="1"/>
          <p:nvPr>
            <p:ph idx="2" type="body"/>
          </p:nvPr>
        </p:nvSpPr>
        <p:spPr>
          <a:xfrm>
            <a:off x="725450" y="1415925"/>
            <a:ext cx="7686000" cy="315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6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Estudos de caso analisados</a:t>
            </a:r>
            <a:r>
              <a:rPr lang="pt-PT" sz="16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:</a:t>
            </a:r>
            <a:endParaRPr sz="16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7500" lvl="0" marL="457200" rtl="0" algn="just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➔"/>
            </a:pPr>
            <a:r>
              <a:rPr b="1"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Automaise</a:t>
            </a:r>
            <a:r>
              <a:rPr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 – atendimento automatizado e eficiente</a:t>
            </a:r>
            <a:br>
              <a:rPr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</a:br>
            <a:endParaRPr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➔"/>
            </a:pPr>
            <a:r>
              <a:rPr b="1"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Netflix &amp; Spotify</a:t>
            </a:r>
            <a:r>
              <a:rPr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 – recomendações personalizadas por IA</a:t>
            </a:r>
            <a:br>
              <a:rPr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</a:br>
            <a:endParaRPr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➔"/>
            </a:pPr>
            <a:r>
              <a:rPr b="1"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Instagram Reels</a:t>
            </a:r>
            <a:r>
              <a:rPr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 – algoritmo que retém atenção com feed adaptado</a:t>
            </a:r>
            <a:br>
              <a:rPr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</a:br>
            <a:endParaRPr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➔"/>
            </a:pPr>
            <a:r>
              <a:rPr b="1"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YouTube</a:t>
            </a:r>
            <a:r>
              <a:rPr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 – publicidade e recomendações com base em machine learning</a:t>
            </a:r>
            <a:endParaRPr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322" name="Google Shape;322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36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CONCLUSÕES GERAIS 3/3 </a:t>
            </a:r>
            <a:endParaRPr sz="3600"/>
          </a:p>
        </p:txBody>
      </p:sp>
      <p:sp>
        <p:nvSpPr>
          <p:cNvPr id="328" name="Google Shape;328;p48"/>
          <p:cNvSpPr txBox="1"/>
          <p:nvPr/>
        </p:nvSpPr>
        <p:spPr>
          <a:xfrm>
            <a:off x="433875" y="1180625"/>
            <a:ext cx="8315400" cy="36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A combinação de </a:t>
            </a:r>
            <a:r>
              <a:rPr b="1"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dados, inteligência artificial (IA), storytelling e análise preditiva</a:t>
            </a:r>
            <a:r>
              <a:rPr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 está a transformar o marketing em:</a:t>
            </a:r>
            <a:endParaRPr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 Serif"/>
              <a:buChar char="➔"/>
            </a:pPr>
            <a:r>
              <a:rPr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Uma prática mais </a:t>
            </a:r>
            <a:r>
              <a:rPr b="1"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relevante, fluida e eficaz</a:t>
            </a:r>
            <a:endParaRPr b="1" sz="13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 Serif"/>
              <a:buChar char="➔"/>
            </a:pPr>
            <a:r>
              <a:rPr b="1"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Centrada no utilizador</a:t>
            </a:r>
            <a:r>
              <a:rPr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 </a:t>
            </a:r>
            <a:r>
              <a:rPr b="1"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/consumidor</a:t>
            </a:r>
            <a:r>
              <a:rPr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 e nas suas </a:t>
            </a:r>
            <a:r>
              <a:rPr b="1"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necessidades reais</a:t>
            </a:r>
            <a:br>
              <a:rPr b="1"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</a:br>
            <a:endParaRPr b="1" sz="13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6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Desafios atuais:</a:t>
            </a:r>
            <a:endParaRPr b="1" sz="13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 Serif"/>
              <a:buChar char="➔"/>
            </a:pPr>
            <a:r>
              <a:rPr b="1"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E</a:t>
            </a:r>
            <a:r>
              <a:rPr b="1"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vitar bolhas de conteúdo e vícios digitais (binge watching)</a:t>
            </a:r>
            <a:endParaRPr b="1" sz="13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 Serif"/>
              <a:buChar char="➔"/>
            </a:pPr>
            <a:r>
              <a:rPr b="1"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Manter a ética no uso de dados e algoritmos</a:t>
            </a:r>
            <a:endParaRPr b="1" sz="13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 Serif"/>
              <a:buChar char="➔"/>
            </a:pPr>
            <a:r>
              <a:rPr b="1"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Promover empatia e responsabilidade nas estratégias</a:t>
            </a:r>
            <a:br>
              <a:rPr b="1" lang="pt-PT" sz="1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</a:br>
            <a:endParaRPr b="1" sz="13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O marketing contemporâneo exige um equilíbrio entre a </a:t>
            </a:r>
            <a:r>
              <a:rPr b="1"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inovação e a consciência</a:t>
            </a:r>
            <a:r>
              <a:rPr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, onde o sucesso vem de </a:t>
            </a:r>
            <a:r>
              <a:rPr b="1"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decisões orientadas por dados</a:t>
            </a:r>
            <a:r>
              <a:rPr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 e </a:t>
            </a:r>
            <a:r>
              <a:rPr b="1"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valores humanos</a:t>
            </a:r>
            <a:r>
              <a:rPr lang="pt-PT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29" name="Google Shape;329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FIM</a:t>
            </a:r>
            <a:endParaRPr b="1" sz="48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pic>
        <p:nvPicPr>
          <p:cNvPr id="335" name="Google Shape;335;p49" title="Trabalho de ADP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2400" y="1683150"/>
            <a:ext cx="2619200" cy="2619200"/>
          </a:xfrm>
          <a:prstGeom prst="rect">
            <a:avLst/>
          </a:prstGeom>
          <a:noFill/>
          <a:ln cap="flat" cmpd="sng" w="76200">
            <a:solidFill>
              <a:schemeClr val="lt1"/>
            </a:solidFill>
            <a:prstDash val="solid"/>
            <a:bevel/>
            <a:headEnd len="sm" w="sm" type="none"/>
            <a:tailEnd len="sm" w="sm" type="none"/>
          </a:ln>
        </p:spPr>
      </p:pic>
      <p:sp>
        <p:nvSpPr>
          <p:cNvPr id="336" name="Google Shape;336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